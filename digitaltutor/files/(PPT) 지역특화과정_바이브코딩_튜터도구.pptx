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1"/>
  </p:sldMasterIdLst>
  <p:notesMasterIdLst>
    <p:notesMasterId r:id="rId23"/>
  </p:notesMasterIdLst>
  <p:sldIdLst>
    <p:sldId id="256" r:id="rId2"/>
    <p:sldId id="259" r:id="rId3"/>
    <p:sldId id="477" r:id="rId20"/>
    <p:sldId id="478" r:id="rId19"/>
    <p:sldId id="479" r:id="rId18"/>
    <p:sldId id="480" r:id="rId17"/>
    <p:sldId id="481" r:id="rId16"/>
    <p:sldId id="482" r:id="rId15"/>
    <p:sldId id="483" r:id="rId14"/>
    <p:sldId id="484" r:id="rId13"/>
    <p:sldId id="485" r:id="rId12"/>
    <p:sldId id="486" r:id="rId11"/>
    <p:sldId id="487" r:id="rId10"/>
    <p:sldId id="488" r:id="rId9"/>
    <p:sldId id="489" r:id="rId8"/>
    <p:sldId id="451" r:id="rId21"/>
    <p:sldId id="476" r:id="rId22"/>
  </p:sldIdLst>
  <p:sldSz cx="10691813" cy="7559675"/>
  <p:notesSz cx="6858000" cy="9144000"/>
  <p:embeddedFontLst>
    <p:embeddedFont>
      <p:font typeface="KoPub돋움체 Bold" panose="00000800000000000000" pitchFamily="2" charset="-127"/>
      <p:bold r:id="rId24"/>
    </p:embeddedFont>
    <p:embeddedFont>
      <p:font typeface="KoPub돋움체 Medium" panose="00000600000000000000" pitchFamily="2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  <p:embeddedFont>
      <p:font typeface="세방고딕 Bold" panose="00000800000000000000" pitchFamily="2" charset="-127"/>
      <p:bold r:id="rId28"/>
    </p:embeddedFont>
    <p:embeddedFont>
      <p:font typeface="세방고딕 Regular" panose="00000500000000000000" pitchFamily="2" charset="-127"/>
      <p:regular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Wingdings 2" panose="05020102010507070707" pitchFamily="18" charset="2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6" userDrawn="1">
          <p15:clr>
            <a:srgbClr val="A4A3A4"/>
          </p15:clr>
        </p15:guide>
        <p15:guide id="2" pos="6429" userDrawn="1">
          <p15:clr>
            <a:srgbClr val="A4A3A4"/>
          </p15:clr>
        </p15:guide>
        <p15:guide id="3" orient="horz" pos="4286" userDrawn="1">
          <p15:clr>
            <a:srgbClr val="A4A3A4"/>
          </p15:clr>
        </p15:guide>
        <p15:guide id="4" orient="horz" pos="907" userDrawn="1">
          <p15:clr>
            <a:srgbClr val="A4A3A4"/>
          </p15:clr>
        </p15:guide>
        <p15:guide id="5" orient="horz" pos="1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2F2F2"/>
    <a:srgbClr val="FEF4EB"/>
    <a:srgbClr val="F49737"/>
    <a:srgbClr val="FDEBDB"/>
    <a:srgbClr val="DD634B"/>
    <a:srgbClr val="00B1AA"/>
    <a:srgbClr val="F1F1F1"/>
    <a:srgbClr val="E4F3F0"/>
    <a:srgbClr val="D6E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88002" autoAdjust="0"/>
  </p:normalViewPr>
  <p:slideViewPr>
    <p:cSldViewPr snapToGrid="0">
      <p:cViewPr varScale="1">
        <p:scale>
          <a:sx n="90" d="100"/>
          <a:sy n="90" d="100"/>
        </p:scale>
        <p:origin x="2190" y="102"/>
      </p:cViewPr>
      <p:guideLst>
        <p:guide pos="306"/>
        <p:guide pos="6429"/>
        <p:guide orient="horz" pos="4286"/>
        <p:guide orient="horz" pos="907"/>
        <p:guide orient="horz" pos="11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howGuides="1">
      <p:cViewPr varScale="1">
        <p:scale>
          <a:sx n="123" d="100"/>
          <a:sy n="123" d="100"/>
        </p:scale>
        <p:origin x="497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17.xml"/><Relationship Id="rId9" Type="http://schemas.openxmlformats.org/officeDocument/2006/relationships/slide" Target="slides/slide16.xml"/><Relationship Id="rId10" Type="http://schemas.openxmlformats.org/officeDocument/2006/relationships/slide" Target="slides/slide15.xml"/><Relationship Id="rId11" Type="http://schemas.openxmlformats.org/officeDocument/2006/relationships/slide" Target="slides/slide14.xml"/><Relationship Id="rId12" Type="http://schemas.openxmlformats.org/officeDocument/2006/relationships/slide" Target="slides/slide13.xml"/><Relationship Id="rId13" Type="http://schemas.openxmlformats.org/officeDocument/2006/relationships/slide" Target="slides/slide12.xml"/><Relationship Id="rId14" Type="http://schemas.openxmlformats.org/officeDocument/2006/relationships/slide" Target="slides/slide11.xml"/><Relationship Id="rId15" Type="http://schemas.openxmlformats.org/officeDocument/2006/relationships/slide" Target="slides/slide10.xml"/><Relationship Id="rId16" Type="http://schemas.openxmlformats.org/officeDocument/2006/relationships/slide" Target="slides/slide9.xml"/><Relationship Id="rId17" Type="http://schemas.openxmlformats.org/officeDocument/2006/relationships/slide" Target="slides/slide8.xml"/><Relationship Id="rId18" Type="http://schemas.openxmlformats.org/officeDocument/2006/relationships/slide" Target="slides/slide7.xml"/><Relationship Id="rId19" Type="http://schemas.openxmlformats.org/officeDocument/2006/relationships/slide" Target="slides/slide6.xml"/><Relationship Id="rId20" Type="http://schemas.openxmlformats.org/officeDocument/2006/relationships/slide" Target="slides/slide5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font" Target="fonts/font9.fntdata"/><Relationship Id="rId33" Type="http://schemas.openxmlformats.org/officeDocument/2006/relationships/font" Target="fonts/font10.fntdata"/><Relationship Id="rId34" Type="http://schemas.openxmlformats.org/officeDocument/2006/relationships/font" Target="fonts/font11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8D494-1A6B-4D34-85A5-FC934A4C055E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EB65A-F30E-4044-A85F-B05A83F8ED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31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EB65A-F30E-4044-A85F-B05A83F8ED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764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4·5차시를 핵심만 짚은 뒤 남은 한 시간에 진행하는 연계 실습입니다. 아카이브: hongdonedu.github.io/fungigame2026/digitaltutor/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5B9901E-EC50-4EE3-B261-F5C88F7D8D30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5681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용어는 2025년 2월 안드레이 카파시의 글에서 널리 퍼졌습니다. 오늘은 코드를 한 줄도 직접 쓰지 않고, 말로만 세 가지 튜터 도구를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디지털 튜터가 바이브코딩을 배우는 이유 세 가지. 오늘 만드는 세 도구가 각각 4차시, 5차시, 그리고 다음 주 수업과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A163C2BE-D83C-E397-BBD8-7D6F180F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C45ADD51-151E-42FF-7548-890D0B9D7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8F05FF2F-52D0-F872-4056-350FDF82C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25F3502A-1229-3D80-AFC6-15E23E042A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8748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B4B0DAE-5692-58CF-9B4F-B96435AB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>
            <a:extLst>
              <a:ext uri="{FF2B5EF4-FFF2-40B4-BE49-F238E27FC236}">
                <a16:creationId xmlns:a16="http://schemas.microsoft.com/office/drawing/2014/main" id="{75F644CB-6FA6-CEE0-E351-6C90DD36C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5:notes">
            <a:extLst>
              <a:ext uri="{FF2B5EF4-FFF2-40B4-BE49-F238E27FC236}">
                <a16:creationId xmlns:a16="http://schemas.microsoft.com/office/drawing/2014/main" id="{24E75D19-BFDC-2019-B0B6-2CAD62274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548554F8-3A64-2495-62E6-F5B5C9C2BA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315358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0EB30EB-7F00-C6ED-F210-085C6FC1AC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80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교수학습자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410D140-4B34-FA8F-698B-3032AA98FC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2EF3B-7EEB-36B7-FEFF-22A430B063B4}"/>
              </a:ext>
            </a:extLst>
          </p:cNvPr>
          <p:cNvSpPr txBox="1"/>
          <p:nvPr userDrawn="1"/>
        </p:nvSpPr>
        <p:spPr>
          <a:xfrm>
            <a:off x="654799" y="676910"/>
            <a:ext cx="28100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2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디지털튜터</a:t>
            </a:r>
            <a:r>
              <a:rPr lang="ko-KR" altLang="en-US" sz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지역특화 공통과정 교수학습자료</a:t>
            </a:r>
          </a:p>
        </p:txBody>
      </p:sp>
    </p:spTree>
    <p:extLst>
      <p:ext uri="{BB962C8B-B14F-4D97-AF65-F5344CB8AC3E}">
        <p14:creationId xmlns:p14="http://schemas.microsoft.com/office/powerpoint/2010/main" val="115071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9921919-DC35-B68F-82D0-E6A91637B5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Google Shape;212;p54">
            <a:extLst>
              <a:ext uri="{FF2B5EF4-FFF2-40B4-BE49-F238E27FC236}">
                <a16:creationId xmlns:a16="http://schemas.microsoft.com/office/drawing/2014/main" id="{4EC1D961-2256-9273-6133-C7231B5F1049}"/>
              </a:ext>
            </a:extLst>
          </p:cNvPr>
          <p:cNvSpPr txBox="1"/>
          <p:nvPr userDrawn="1"/>
        </p:nvSpPr>
        <p:spPr>
          <a:xfrm>
            <a:off x="5272097" y="7098469"/>
            <a:ext cx="16190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‹#›</a:t>
            </a:fld>
            <a:endParaRPr sz="10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  <a:sym typeface="Arial"/>
            </a:endParaRPr>
          </a:p>
        </p:txBody>
      </p:sp>
      <p:sp>
        <p:nvSpPr>
          <p:cNvPr id="6" name="Google Shape;260;p54">
            <a:extLst>
              <a:ext uri="{FF2B5EF4-FFF2-40B4-BE49-F238E27FC236}">
                <a16:creationId xmlns:a16="http://schemas.microsoft.com/office/drawing/2014/main" id="{B27CA5E7-F547-4AD8-81FD-7F93E37D138C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4432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-3 단원(2차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8D38B7F5-9BAF-15A0-2D28-F6339725B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1" name="Google Shape;212;p54">
            <a:extLst>
              <a:ext uri="{FF2B5EF4-FFF2-40B4-BE49-F238E27FC236}">
                <a16:creationId xmlns:a16="http://schemas.microsoft.com/office/drawing/2014/main" id="{57B621C0-3650-CA26-AECF-9F997AB1542F}"/>
              </a:ext>
            </a:extLst>
          </p:cNvPr>
          <p:cNvSpPr txBox="1"/>
          <p:nvPr userDrawn="1"/>
        </p:nvSpPr>
        <p:spPr>
          <a:xfrm>
            <a:off x="5272097" y="7098469"/>
            <a:ext cx="16190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‹#›</a:t>
            </a:fld>
            <a:endParaRPr sz="10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  <a:sym typeface="Arial"/>
            </a:endParaRPr>
          </a:p>
        </p:txBody>
      </p:sp>
      <p:sp>
        <p:nvSpPr>
          <p:cNvPr id="53" name="Google Shape;259;p54">
            <a:extLst>
              <a:ext uri="{FF2B5EF4-FFF2-40B4-BE49-F238E27FC236}">
                <a16:creationId xmlns:a16="http://schemas.microsoft.com/office/drawing/2014/main" id="{FB997CCD-1F75-B677-2450-C443B5181FE2}"/>
              </a:ext>
            </a:extLst>
          </p:cNvPr>
          <p:cNvSpPr txBox="1"/>
          <p:nvPr userDrawn="1"/>
        </p:nvSpPr>
        <p:spPr>
          <a:xfrm>
            <a:off x="969756" y="458756"/>
            <a:ext cx="5273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단원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Ⅰ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  <a:sym typeface="Arial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D318007-BFFC-A3A2-F00E-898BFCF71736}"/>
              </a:ext>
            </a:extLst>
          </p:cNvPr>
          <p:cNvGrpSpPr/>
          <p:nvPr userDrawn="1"/>
        </p:nvGrpSpPr>
        <p:grpSpPr>
          <a:xfrm>
            <a:off x="6897370" y="642104"/>
            <a:ext cx="1706880" cy="323166"/>
            <a:chOff x="6897370" y="642104"/>
            <a:chExt cx="1706880" cy="32316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C7710A-AD17-7203-3D1F-9F813D3FF035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2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차시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58D547-7E4C-9B8D-EFCF-A9D6C339784E}"/>
                </a:ext>
              </a:extLst>
            </p:cNvPr>
            <p:cNvSpPr txBox="1"/>
            <p:nvPr/>
          </p:nvSpPr>
          <p:spPr>
            <a:xfrm>
              <a:off x="6897370" y="803687"/>
              <a:ext cx="170688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교육용 구글 도구 활용 실습</a:t>
              </a:r>
            </a:p>
          </p:txBody>
        </p:sp>
      </p:grpSp>
      <p:sp>
        <p:nvSpPr>
          <p:cNvPr id="57" name="Google Shape;260;p54">
            <a:extLst>
              <a:ext uri="{FF2B5EF4-FFF2-40B4-BE49-F238E27FC236}">
                <a16:creationId xmlns:a16="http://schemas.microsoft.com/office/drawing/2014/main" id="{F8148FB5-3AD3-6C5D-3CCC-49FF03C0030F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altLang="en-US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lang="ko-KR" altLang="en-US" sz="800"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7759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-3 단원(3차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8D38B7F5-9BAF-15A0-2D28-F6339725B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1" name="Google Shape;212;p54">
            <a:extLst>
              <a:ext uri="{FF2B5EF4-FFF2-40B4-BE49-F238E27FC236}">
                <a16:creationId xmlns:a16="http://schemas.microsoft.com/office/drawing/2014/main" id="{57B621C0-3650-CA26-AECF-9F997AB1542F}"/>
              </a:ext>
            </a:extLst>
          </p:cNvPr>
          <p:cNvSpPr txBox="1"/>
          <p:nvPr userDrawn="1"/>
        </p:nvSpPr>
        <p:spPr>
          <a:xfrm>
            <a:off x="5272097" y="7098469"/>
            <a:ext cx="16190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‹#›</a:t>
            </a:fld>
            <a:endParaRPr sz="10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  <a:sym typeface="Arial"/>
            </a:endParaRPr>
          </a:p>
        </p:txBody>
      </p:sp>
      <p:sp>
        <p:nvSpPr>
          <p:cNvPr id="53" name="Google Shape;259;p54">
            <a:extLst>
              <a:ext uri="{FF2B5EF4-FFF2-40B4-BE49-F238E27FC236}">
                <a16:creationId xmlns:a16="http://schemas.microsoft.com/office/drawing/2014/main" id="{FB997CCD-1F75-B677-2450-C443B5181FE2}"/>
              </a:ext>
            </a:extLst>
          </p:cNvPr>
          <p:cNvSpPr txBox="1"/>
          <p:nvPr userDrawn="1"/>
        </p:nvSpPr>
        <p:spPr>
          <a:xfrm>
            <a:off x="969756" y="458756"/>
            <a:ext cx="5273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단원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Ⅰ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  <a:sym typeface="Arial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D318007-BFFC-A3A2-F00E-898BFCF71736}"/>
              </a:ext>
            </a:extLst>
          </p:cNvPr>
          <p:cNvGrpSpPr/>
          <p:nvPr userDrawn="1"/>
        </p:nvGrpSpPr>
        <p:grpSpPr>
          <a:xfrm>
            <a:off x="6897370" y="642104"/>
            <a:ext cx="1706880" cy="323166"/>
            <a:chOff x="6897370" y="642104"/>
            <a:chExt cx="1706880" cy="32316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C7710A-AD17-7203-3D1F-9F813D3FF035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3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차시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58D547-7E4C-9B8D-EFCF-A9D6C339784E}"/>
                </a:ext>
              </a:extLst>
            </p:cNvPr>
            <p:cNvSpPr txBox="1"/>
            <p:nvPr/>
          </p:nvSpPr>
          <p:spPr>
            <a:xfrm>
              <a:off x="6897370" y="803687"/>
              <a:ext cx="170688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ko-KR" altLang="en-US" sz="105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패들렛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(Padlet)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활용 실습</a:t>
              </a:r>
            </a:p>
          </p:txBody>
        </p:sp>
      </p:grpSp>
      <p:sp>
        <p:nvSpPr>
          <p:cNvPr id="57" name="Google Shape;260;p54">
            <a:extLst>
              <a:ext uri="{FF2B5EF4-FFF2-40B4-BE49-F238E27FC236}">
                <a16:creationId xmlns:a16="http://schemas.microsoft.com/office/drawing/2014/main" id="{F8148FB5-3AD3-6C5D-3CCC-49FF03C0030F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altLang="en-US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lang="ko-KR" altLang="en-US" sz="800"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75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-3 단원(4~5 차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8D38B7F5-9BAF-15A0-2D28-F6339725B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1" name="Google Shape;212;p54">
            <a:extLst>
              <a:ext uri="{FF2B5EF4-FFF2-40B4-BE49-F238E27FC236}">
                <a16:creationId xmlns:a16="http://schemas.microsoft.com/office/drawing/2014/main" id="{57B621C0-3650-CA26-AECF-9F997AB1542F}"/>
              </a:ext>
            </a:extLst>
          </p:cNvPr>
          <p:cNvSpPr txBox="1"/>
          <p:nvPr userDrawn="1"/>
        </p:nvSpPr>
        <p:spPr>
          <a:xfrm>
            <a:off x="5272097" y="7098469"/>
            <a:ext cx="16190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‹#›</a:t>
            </a:fld>
            <a:endParaRPr sz="10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  <a:sym typeface="Arial"/>
            </a:endParaRPr>
          </a:p>
        </p:txBody>
      </p:sp>
      <p:sp>
        <p:nvSpPr>
          <p:cNvPr id="53" name="Google Shape;259;p54">
            <a:extLst>
              <a:ext uri="{FF2B5EF4-FFF2-40B4-BE49-F238E27FC236}">
                <a16:creationId xmlns:a16="http://schemas.microsoft.com/office/drawing/2014/main" id="{FB997CCD-1F75-B677-2450-C443B5181FE2}"/>
              </a:ext>
            </a:extLst>
          </p:cNvPr>
          <p:cNvSpPr txBox="1"/>
          <p:nvPr userDrawn="1"/>
        </p:nvSpPr>
        <p:spPr>
          <a:xfrm>
            <a:off x="969756" y="458756"/>
            <a:ext cx="5273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단원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Ⅰ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  <a:sym typeface="Arial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D318007-BFFC-A3A2-F00E-898BFCF71736}"/>
              </a:ext>
            </a:extLst>
          </p:cNvPr>
          <p:cNvGrpSpPr/>
          <p:nvPr userDrawn="1"/>
        </p:nvGrpSpPr>
        <p:grpSpPr>
          <a:xfrm>
            <a:off x="6897370" y="642104"/>
            <a:ext cx="1706880" cy="323166"/>
            <a:chOff x="6897370" y="642104"/>
            <a:chExt cx="1706880" cy="32316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C7710A-AD17-7203-3D1F-9F813D3FF035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4~5 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차시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58D547-7E4C-9B8D-EFCF-A9D6C339784E}"/>
                </a:ext>
              </a:extLst>
            </p:cNvPr>
            <p:cNvSpPr txBox="1"/>
            <p:nvPr/>
          </p:nvSpPr>
          <p:spPr>
            <a:xfrm>
              <a:off x="6897370" y="803687"/>
              <a:ext cx="170688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퀴즈 도구 활용 실습</a:t>
              </a:r>
            </a:p>
          </p:txBody>
        </p:sp>
      </p:grpSp>
      <p:sp>
        <p:nvSpPr>
          <p:cNvPr id="57" name="Google Shape;260;p54">
            <a:extLst>
              <a:ext uri="{FF2B5EF4-FFF2-40B4-BE49-F238E27FC236}">
                <a16:creationId xmlns:a16="http://schemas.microsoft.com/office/drawing/2014/main" id="{F8148FB5-3AD3-6C5D-3CCC-49FF03C0030F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altLang="en-US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lang="ko-KR" altLang="en-US" sz="800"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5810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-3 단원(6차시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8D38B7F5-9BAF-15A0-2D28-F6339725B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1" name="Google Shape;212;p54">
            <a:extLst>
              <a:ext uri="{FF2B5EF4-FFF2-40B4-BE49-F238E27FC236}">
                <a16:creationId xmlns:a16="http://schemas.microsoft.com/office/drawing/2014/main" id="{57B621C0-3650-CA26-AECF-9F997AB1542F}"/>
              </a:ext>
            </a:extLst>
          </p:cNvPr>
          <p:cNvSpPr txBox="1"/>
          <p:nvPr userDrawn="1"/>
        </p:nvSpPr>
        <p:spPr>
          <a:xfrm>
            <a:off x="5272097" y="7098469"/>
            <a:ext cx="16190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‹#›</a:t>
            </a:fld>
            <a:endParaRPr sz="10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/>
              <a:sym typeface="Arial"/>
            </a:endParaRPr>
          </a:p>
        </p:txBody>
      </p:sp>
      <p:sp>
        <p:nvSpPr>
          <p:cNvPr id="53" name="Google Shape;259;p54">
            <a:extLst>
              <a:ext uri="{FF2B5EF4-FFF2-40B4-BE49-F238E27FC236}">
                <a16:creationId xmlns:a16="http://schemas.microsoft.com/office/drawing/2014/main" id="{FB997CCD-1F75-B677-2450-C443B5181FE2}"/>
              </a:ext>
            </a:extLst>
          </p:cNvPr>
          <p:cNvSpPr txBox="1"/>
          <p:nvPr userDrawn="1"/>
        </p:nvSpPr>
        <p:spPr>
          <a:xfrm>
            <a:off x="969756" y="458756"/>
            <a:ext cx="52738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단원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Ⅰ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  <a:sym typeface="Arial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D318007-BFFC-A3A2-F00E-898BFCF71736}"/>
              </a:ext>
            </a:extLst>
          </p:cNvPr>
          <p:cNvGrpSpPr/>
          <p:nvPr userDrawn="1"/>
        </p:nvGrpSpPr>
        <p:grpSpPr>
          <a:xfrm>
            <a:off x="6897370" y="642104"/>
            <a:ext cx="1706880" cy="323166"/>
            <a:chOff x="6897370" y="642104"/>
            <a:chExt cx="1706880" cy="32316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4C7710A-AD17-7203-3D1F-9F813D3FF035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6</a:t>
              </a:r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차시</a:t>
              </a:r>
              <a:r>
                <a:rPr lang="en-US" altLang="ko-KR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D58D547-7E4C-9B8D-EFCF-A9D6C339784E}"/>
                </a:ext>
              </a:extLst>
            </p:cNvPr>
            <p:cNvSpPr txBox="1"/>
            <p:nvPr/>
          </p:nvSpPr>
          <p:spPr>
            <a:xfrm>
              <a:off x="6897370" y="803687"/>
              <a:ext cx="170688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ko-KR" altLang="en-US" sz="10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6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영상 편집 도구 활용 실습</a:t>
              </a:r>
            </a:p>
          </p:txBody>
        </p:sp>
      </p:grpSp>
      <p:sp>
        <p:nvSpPr>
          <p:cNvPr id="57" name="Google Shape;260;p54">
            <a:extLst>
              <a:ext uri="{FF2B5EF4-FFF2-40B4-BE49-F238E27FC236}">
                <a16:creationId xmlns:a16="http://schemas.microsoft.com/office/drawing/2014/main" id="{F8148FB5-3AD3-6C5D-3CCC-49FF03C0030F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altLang="en-US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lang="ko-KR" altLang="en-US" sz="800"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820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차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9776F69-9D6F-4FF8-A8BB-729FF55FCD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3" name="Google Shape;212;p54">
            <a:extLst>
              <a:ext uri="{FF2B5EF4-FFF2-40B4-BE49-F238E27FC236}">
                <a16:creationId xmlns:a16="http://schemas.microsoft.com/office/drawing/2014/main" id="{33BF1305-87DB-2AB6-95E9-150F751EC88A}"/>
              </a:ext>
            </a:extLst>
          </p:cNvPr>
          <p:cNvSpPr txBox="1"/>
          <p:nvPr userDrawn="1"/>
        </p:nvSpPr>
        <p:spPr>
          <a:xfrm>
            <a:off x="5238434" y="7098469"/>
            <a:ext cx="22923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Arial"/>
                <a:sym typeface="Arial"/>
              </a:rPr>
              <a:t>‹#›</a:t>
            </a:fld>
            <a:endParaRPr sz="100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3F3F3F"/>
              </a:solidFill>
              <a:latin typeface="나눔스퀘어_ac" panose="020B0600000101010101" pitchFamily="50" charset="-127"/>
              <a:ea typeface="나눔스퀘어_ac" panose="020B0600000101010101" pitchFamily="50" charset="-127"/>
              <a:cs typeface="Arial"/>
              <a:sym typeface="Arial"/>
            </a:endParaRPr>
          </a:p>
        </p:txBody>
      </p:sp>
      <p:sp>
        <p:nvSpPr>
          <p:cNvPr id="6" name="Google Shape;259;p54">
            <a:extLst>
              <a:ext uri="{FF2B5EF4-FFF2-40B4-BE49-F238E27FC236}">
                <a16:creationId xmlns:a16="http://schemas.microsoft.com/office/drawing/2014/main" id="{364A8370-4792-DD8D-6273-038CAFEFF53D}"/>
              </a:ext>
            </a:extLst>
          </p:cNvPr>
          <p:cNvSpPr txBox="1"/>
          <p:nvPr userDrawn="1"/>
        </p:nvSpPr>
        <p:spPr>
          <a:xfrm>
            <a:off x="973764" y="458756"/>
            <a:ext cx="51937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  <a:cs typeface="Arial"/>
                <a:sym typeface="Arial"/>
              </a:rPr>
              <a:t>연계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+mj-ea"/>
                <a:ea typeface="+mj-ea"/>
                <a:cs typeface="Arial"/>
                <a:sym typeface="Arial"/>
              </a:rPr>
              <a:t>실습</a:t>
            </a:r>
            <a:endParaRPr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49737"/>
              </a:solidFill>
              <a:latin typeface="+mj-ea"/>
              <a:ea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D944C3B-EE23-4281-956E-8C076AC98EED}"/>
              </a:ext>
            </a:extLst>
          </p:cNvPr>
          <p:cNvGrpSpPr/>
          <p:nvPr userDrawn="1"/>
        </p:nvGrpSpPr>
        <p:grpSpPr>
          <a:xfrm>
            <a:off x="6897370" y="642104"/>
            <a:ext cx="2813300" cy="484748"/>
            <a:chOff x="6897370" y="642104"/>
            <a:chExt cx="2813300" cy="4847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09C9D7-6EE2-423B-BE0E-C0DB196DA763}"/>
                </a:ext>
              </a:extLst>
            </p:cNvPr>
            <p:cNvSpPr txBox="1"/>
            <p:nvPr/>
          </p:nvSpPr>
          <p:spPr>
            <a:xfrm>
              <a:off x="6897370" y="642104"/>
              <a:ext cx="161417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/>
              <a:r>
                <a:rPr lang="en-US" altLang="ko-KR" sz="10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/>
              </a:r>
              <a:r>
                <a:rPr lang="ko-KR" altLang="en-US" sz="10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/>
              </a:r>
              <a:r>
                <a:rPr lang="en-US" altLang="ko-KR" sz="105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endParaRPr lang="en-US" altLang="ko-KR" sz="10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4E45AF-F987-4C0D-8790-9C9A7BA2DFBD}"/>
                </a:ext>
              </a:extLst>
            </p:cNvPr>
            <p:cNvSpPr txBox="1"/>
            <p:nvPr/>
          </p:nvSpPr>
          <p:spPr>
            <a:xfrm>
              <a:off x="6897370" y="803687"/>
              <a:ext cx="2813300" cy="32316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>
                <a:buSzPct val="90000"/>
                <a:defRPr/>
              </a:pPr>
              <a:r>
                <a:rPr lang="en-US" altLang="ko-KR" sz="1050" spc="-5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/>
              </a:r>
              <a:r>
                <a:rPr lang="ko-KR" altLang="en-US" sz="1050" spc="-5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말로 만드는 튜터 도구</a:t>
              </a:r>
              <a:r>
                <a:rPr lang="en-US" altLang="ko-KR" sz="1050" spc="-5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/>
              </a:r>
              <a:r>
                <a:rPr lang="ko-KR" altLang="en-US" sz="1050" spc="-5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— </a:t>
              </a:r>
              <a:endParaRPr lang="en-US" altLang="ko-KR" sz="1050" spc="-50">
                <a:ln w="9525"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lvl="0">
                <a:buSzPct val="90000"/>
                <a:defRPr/>
              </a:pPr>
              <a:r>
                <a:rPr lang="en-US" altLang="ko-KR" sz="1050" spc="-5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/>
              </a:r>
              <a:r>
                <a:rPr lang="ko-KR" altLang="en-US" sz="1050" spc="-50">
                  <a:ln w="952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바이브코딩 입문</a:t>
              </a:r>
              <a:endParaRPr lang="ko-KR" altLang="en-US" sz="1050" spc="-50" dirty="0">
                <a:ln w="9525"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0" name="Google Shape;260;p54">
            <a:extLst>
              <a:ext uri="{FF2B5EF4-FFF2-40B4-BE49-F238E27FC236}">
                <a16:creationId xmlns:a16="http://schemas.microsoft.com/office/drawing/2014/main" id="{F5C2DC34-9C78-4682-9087-FAA62D3DE366}"/>
              </a:ext>
            </a:extLst>
          </p:cNvPr>
          <p:cNvSpPr txBox="1"/>
          <p:nvPr userDrawn="1"/>
        </p:nvSpPr>
        <p:spPr>
          <a:xfrm>
            <a:off x="7551288" y="7100882"/>
            <a:ext cx="265475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rPr lang="ko-KR" altLang="en-US" sz="8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  <a:sym typeface="Arial"/>
              </a:rPr>
              <a:t>지역특화 공통과정 교수학습자료 </a:t>
            </a:r>
            <a:r>
              <a:rPr lang="ko-KR" sz="8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3F3F3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  <a:sym typeface="Arial"/>
              </a:rPr>
              <a:t>디지털튜터</a:t>
            </a:r>
            <a:endParaRPr b="1" dirty="0">
              <a:ln>
                <a:solidFill>
                  <a:schemeClr val="tx1">
                    <a:alpha val="0"/>
                  </a:scheme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252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034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6" r:id="rId2"/>
    <p:sldLayoutId id="2147483668" r:id="rId3"/>
    <p:sldLayoutId id="2147483675" r:id="rId4"/>
    <p:sldLayoutId id="2147483678" r:id="rId5"/>
    <p:sldLayoutId id="2147483679" r:id="rId6"/>
    <p:sldLayoutId id="2147483685" r:id="rId7"/>
    <p:sldLayoutId id="2147483686" r:id="rId8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D1C5BD-598C-2DE8-456E-B2DB4135605B}"/>
              </a:ext>
            </a:extLst>
          </p:cNvPr>
          <p:cNvSpPr txBox="1"/>
          <p:nvPr/>
        </p:nvSpPr>
        <p:spPr>
          <a:xfrm>
            <a:off x="4344831" y="771074"/>
            <a:ext cx="2002150" cy="2180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417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교실 안 디지털 수업 파트너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44710-ACA6-6E4E-457A-29B983E11A2E}"/>
              </a:ext>
            </a:extLst>
          </p:cNvPr>
          <p:cNvSpPr txBox="1"/>
          <p:nvPr/>
        </p:nvSpPr>
        <p:spPr>
          <a:xfrm>
            <a:off x="3864732" y="2885122"/>
            <a:ext cx="2962349" cy="9455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3072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지역특화 공통과정</a:t>
            </a:r>
            <a:endParaRPr lang="en-US" altLang="ko-KR" sz="3072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3072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교수학습자료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D8296-8229-4709-5E9E-D971EF11C377}"/>
              </a:ext>
            </a:extLst>
          </p:cNvPr>
          <p:cNvSpPr txBox="1"/>
          <p:nvPr/>
        </p:nvSpPr>
        <p:spPr>
          <a:xfrm>
            <a:off x="3430318" y="1608455"/>
            <a:ext cx="3831177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FEF33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디지털튜터</a:t>
            </a:r>
            <a:endParaRPr lang="ko-KR" altLang="en-US" sz="6600" dirty="0">
              <a:solidFill>
                <a:srgbClr val="FEF33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1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2901;p33"/>
          <p:cNvGrpSpPr/>
          <p:nvPr/>
        </p:nvGrpSpPr>
        <p:grpSpPr>
          <a:xfrm>
            <a:off x="679968" y="1279726"/>
            <a:ext cx="7974175" cy="2358515"/>
            <a:chOff x="679968" y="753191"/>
            <a:chExt cx="9187932" cy="2358515"/>
          </a:xfrm>
        </p:grpSpPr>
        <p:sp>
          <p:nvSpPr>
            <p:cNvPr id="8" name="Google Shape;2902;p33"/>
            <p:cNvSpPr txBox="1"/>
            <p:nvPr/>
          </p:nvSpPr>
          <p:spPr>
            <a:xfrm>
              <a:off x="812767" y="1693369"/>
              <a:ext cx="9055133" cy="14183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>
                <a:spcAft>
                  <a:spcPts val="500"/>
                </a:spcAft>
                <a:defRPr/>
              </a:pPr>
              <a:r>
                <a:rPr lang="ko-KR" altLang="en-US" sz="4400" b="1" spc="-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말로 만드는 튜터 도구</a:t>
              </a:r>
            </a:p>
            <a:p>
              <a:pPr>
                <a:spcAft>
                  <a:spcPts val="500"/>
                </a:spcAft>
                <a:defRPr/>
              </a:pPr>
              <a:r>
                <a:rPr lang="ko-KR" altLang="en-US" sz="4400" b="1" spc="-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바이브코딩 입문</a:t>
              </a:r>
            </a:p>
          </p:txBody>
        </p:sp>
        <p:grpSp>
          <p:nvGrpSpPr>
            <p:cNvPr id="9" name="Google Shape;2903;p33"/>
            <p:cNvGrpSpPr/>
            <p:nvPr/>
          </p:nvGrpSpPr>
          <p:grpSpPr>
            <a:xfrm>
              <a:off x="679968" y="753191"/>
              <a:ext cx="2101543" cy="674005"/>
              <a:chOff x="679968" y="753191"/>
              <a:chExt cx="2101543" cy="674005"/>
            </a:xfrm>
          </p:grpSpPr>
          <p:sp>
            <p:nvSpPr>
              <p:cNvPr id="10" name="Google Shape;2904;p33"/>
              <p:cNvSpPr/>
              <p:nvPr/>
            </p:nvSpPr>
            <p:spPr>
              <a:xfrm>
                <a:off x="743911" y="889146"/>
                <a:ext cx="2037600" cy="538050"/>
              </a:xfrm>
              <a:prstGeom prst="roundRect">
                <a:avLst>
                  <a:gd name="adj" fmla="val 50000"/>
                </a:avLst>
              </a:prstGeom>
              <a:solidFill>
                <a:srgbClr val="F49737"/>
              </a:solidFill>
              <a:ln>
                <a:noFill/>
              </a:ln>
            </p:spPr>
            <p:txBody>
              <a:bodyPr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en-US" altLang="ko-KR" sz="2400" dirty="0">
                    <a:ln w="9525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sym typeface="Arial"/>
                  </a:rPr>
                  <a:t>연계 실습</a:t>
                </a:r>
              </a:p>
            </p:txBody>
          </p:sp>
          <p:pic>
            <p:nvPicPr>
              <p:cNvPr id="11" name="Google Shape;2905;p33"/>
              <p:cNvPicPr/>
              <p:nvPr/>
            </p:nvPicPr>
            <p:blipFill rotWithShape="1">
              <a:blip r:embed="rId3">
                <a:alphaModFix/>
              </a:blip>
              <a:srcRect/>
              <a:stretch>
                <a:fillRect/>
              </a:stretch>
            </p:blipFill>
            <p:spPr>
              <a:xfrm>
                <a:off x="679968" y="753191"/>
                <a:ext cx="384549" cy="375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" name="Google Shape;2906;p33"/>
          <p:cNvGrpSpPr/>
          <p:nvPr/>
        </p:nvGrpSpPr>
        <p:grpSpPr>
          <a:xfrm>
            <a:off x="679968" y="4077145"/>
            <a:ext cx="9672345" cy="1828294"/>
            <a:chOff x="679968" y="753191"/>
            <a:chExt cx="9672345" cy="1828294"/>
          </a:xfrm>
        </p:grpSpPr>
        <p:sp>
          <p:nvSpPr>
            <p:cNvPr id="13" name="Google Shape;2907;p33"/>
            <p:cNvSpPr txBox="1"/>
            <p:nvPr/>
          </p:nvSpPr>
          <p:spPr>
            <a:xfrm>
              <a:off x="3000054" y="950269"/>
              <a:ext cx="7352259" cy="16312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>
                <a:defRPr lang="en-US"/>
              </a:defPPr>
              <a:lvl1pPr marL="342900" indent="-342900" fontAlgn="base">
                <a:spcAft>
                  <a:spcPts val="600"/>
                </a:spcAft>
                <a:buFont typeface="Wingdings" panose="05000000000000000000" pitchFamily="2" charset="2"/>
                <a:buChar char="ü"/>
                <a:defRPr sz="240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세방고딕 Regular" panose="00000500000000000000" pitchFamily="2" charset="-127"/>
                  <a:ea typeface="세방고딕 Regular" panose="00000500000000000000" pitchFamily="2" charset="-127"/>
                </a:defRPr>
              </a:lvl1pPr>
            </a:lstStyle>
            <a:p>
              <a:r>
                <a:rPr lang="ko-KR" altLang="en-US" dirty="0"/>
                <a:t>바이브코딩의 뜻과 흐름(말하기 → 만들기 → 써 보기 → 고치기 → 나누기)을 설명할 수 있다.</a:t>
              </a:r>
            </a:p>
            <a:p>
              <a:r>
                <a:rPr lang="ko-KR" altLang="en-US" dirty="0"/>
                <a:t>제미나이 캔버스로 튜터 업무와 저학년 지원에 쓰는 웹앱을 만들고 공유할 수 있다.</a:t>
              </a:r>
            </a:p>
            <a:p>
              <a:r>
                <a:rPr lang="ko-KR" altLang="en-US" dirty="0"/>
                <a:t>학생의 바이브코딩 활동에서 튜터가 도울 지점과 지켜야 할 약속을 안다.</a:t>
              </a:r>
            </a:p>
          </p:txBody>
        </p:sp>
        <p:grpSp>
          <p:nvGrpSpPr>
            <p:cNvPr id="14" name="Google Shape;2908;p33"/>
            <p:cNvGrpSpPr/>
            <p:nvPr/>
          </p:nvGrpSpPr>
          <p:grpSpPr>
            <a:xfrm>
              <a:off x="679968" y="753191"/>
              <a:ext cx="2101332" cy="649923"/>
              <a:chOff x="679968" y="753191"/>
              <a:chExt cx="2101332" cy="649923"/>
            </a:xfrm>
          </p:grpSpPr>
          <p:sp>
            <p:nvSpPr>
              <p:cNvPr id="15" name="Google Shape;2909;p33"/>
              <p:cNvSpPr/>
              <p:nvPr/>
            </p:nvSpPr>
            <p:spPr>
              <a:xfrm>
                <a:off x="743912" y="889146"/>
                <a:ext cx="2037388" cy="513968"/>
              </a:xfrm>
              <a:prstGeom prst="roundRect">
                <a:avLst>
                  <a:gd name="adj" fmla="val 50000"/>
                </a:avLst>
              </a:prstGeom>
              <a:solidFill>
                <a:srgbClr val="F49737"/>
              </a:solidFill>
              <a:ln>
                <a:noFill/>
              </a:ln>
            </p:spPr>
            <p:txBody>
              <a:bodyPr wrap="square" lIns="288000" tIns="0" rIns="0" bIns="0" anchor="ctr" anchorCtr="0">
                <a:noAutofit/>
              </a:bodyPr>
              <a:lstStyle/>
              <a:p>
                <a:pPr lvl="0">
                  <a:defRPr/>
                </a:pPr>
                <a:r>
                  <a:rPr lang="ko-KR" altLang="en-US" sz="2400" dirty="0">
                    <a:ln w="9525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lt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sym typeface="Arial"/>
                  </a:rPr>
                  <a:t>학습 목표</a:t>
                </a:r>
                <a:endParaRPr lang="ko-KR" altLang="en-US" sz="2400" dirty="0">
                  <a:solidFill>
                    <a:schemeClr val="lt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sym typeface="Arial"/>
                </a:endParaRPr>
              </a:p>
            </p:txBody>
          </p:sp>
          <p:pic>
            <p:nvPicPr>
              <p:cNvPr id="16" name="Google Shape;2910;p33"/>
              <p:cNvPicPr/>
              <p:nvPr/>
            </p:nvPicPr>
            <p:blipFill rotWithShape="1">
              <a:blip r:embed="rId3">
                <a:alphaModFix/>
              </a:blip>
              <a:srcRect/>
              <a:stretch>
                <a:fillRect/>
              </a:stretch>
            </p:blipFill>
            <p:spPr>
              <a:xfrm>
                <a:off x="679968" y="753191"/>
                <a:ext cx="384549" cy="375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8114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바이브코딩이란? — 코드를 쓰는 대신 말로 만들기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783080"/>
            <a:ext cx="9692640" cy="868680"/>
          </a:xfrm>
          <a:prstGeom prst="roundRect">
            <a:avLst>
              <a:gd name="adj" fmla="val 12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892807"/>
            <a:ext cx="9235440" cy="64922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700" b="0">
                <a:solidFill>
                  <a:srgbClr val="262626"/>
                </a:solidFill>
              </a:rPr>
              <a:t>원하는 것을 </a:t>
            </a:r>
            <a:r>
              <a:rPr sz="1700" b="1">
                <a:solidFill>
                  <a:srgbClr val="C0500C"/>
                </a:solidFill>
              </a:rPr>
              <a:t>말(자연어)로 설명</a:t>
            </a:r>
            <a:r>
              <a:rPr sz="1700" b="0">
                <a:solidFill>
                  <a:srgbClr val="262626"/>
                </a:solidFill>
              </a:rPr>
              <a:t>하면 AI가 코드를 만들고, 사람은 결과를 </a:t>
            </a:r>
            <a:r>
              <a:rPr sz="1700" b="1">
                <a:solidFill>
                  <a:srgbClr val="C0500C"/>
                </a:solidFill>
              </a:rPr>
              <a:t>직접 실행해 보며 대화로 고쳐 나가는</a:t>
            </a:r>
            <a:r>
              <a:rPr sz="1700" b="0">
                <a:solidFill>
                  <a:srgbClr val="262626"/>
                </a:solidFill>
              </a:rPr>
              <a:t>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2880360"/>
            <a:ext cx="1700784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94360" y="2990088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64992"/>
            <a:ext cx="1517904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800" b="1">
                <a:solidFill>
                  <a:srgbClr val="1F2A6B"/>
                </a:solidFill>
              </a:rPr>
              <a:t>말하기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1517904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누구를 위해 · 어떤
화면을 · 어떤 조건으로</a:t>
            </a:r>
          </a:p>
        </p:txBody>
      </p:sp>
      <p:sp>
        <p:nvSpPr>
          <p:cNvPr id="9" name="Chevron 8"/>
          <p:cNvSpPr/>
          <p:nvPr/>
        </p:nvSpPr>
        <p:spPr>
          <a:xfrm>
            <a:off x="2203704" y="3520440"/>
            <a:ext cx="237744" cy="310896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468880" y="2880360"/>
            <a:ext cx="1700784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78608" y="2990088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364992"/>
            <a:ext cx="1517904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800" b="1">
                <a:solidFill>
                  <a:srgbClr val="1F2A6B"/>
                </a:solidFill>
              </a:rPr>
              <a:t>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749039"/>
            <a:ext cx="1517904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AI가 HTML 파일
하나로 앱을 만들어요</a:t>
            </a:r>
          </a:p>
        </p:txBody>
      </p:sp>
      <p:sp>
        <p:nvSpPr>
          <p:cNvPr id="14" name="Chevron 13"/>
          <p:cNvSpPr/>
          <p:nvPr/>
        </p:nvSpPr>
        <p:spPr>
          <a:xfrm>
            <a:off x="4187952" y="3520440"/>
            <a:ext cx="237744" cy="310896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453128" y="2880360"/>
            <a:ext cx="1700784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562856" y="2990088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364992"/>
            <a:ext cx="1517904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800" b="1">
                <a:solidFill>
                  <a:srgbClr val="1F2A6B"/>
                </a:solidFill>
              </a:rPr>
              <a:t>써 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749039"/>
            <a:ext cx="1517904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미리보기에서
직접 눌러 봐요</a:t>
            </a:r>
          </a:p>
        </p:txBody>
      </p:sp>
      <p:sp>
        <p:nvSpPr>
          <p:cNvPr id="19" name="Chevron 18"/>
          <p:cNvSpPr/>
          <p:nvPr/>
        </p:nvSpPr>
        <p:spPr>
          <a:xfrm>
            <a:off x="6172200" y="3520440"/>
            <a:ext cx="237744" cy="310896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37376" y="2880360"/>
            <a:ext cx="1700784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547104" y="2990088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364992"/>
            <a:ext cx="1517904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800" b="1">
                <a:solidFill>
                  <a:srgbClr val="1F2A6B"/>
                </a:solidFill>
              </a:rPr>
              <a:t>고치기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749039"/>
            <a:ext cx="1517904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이상한 점을
말로 다시 요청</a:t>
            </a:r>
          </a:p>
        </p:txBody>
      </p:sp>
      <p:sp>
        <p:nvSpPr>
          <p:cNvPr id="24" name="Chevron 23"/>
          <p:cNvSpPr/>
          <p:nvPr/>
        </p:nvSpPr>
        <p:spPr>
          <a:xfrm>
            <a:off x="8156448" y="3520440"/>
            <a:ext cx="237744" cy="310896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21624" y="2880360"/>
            <a:ext cx="1700784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531351" y="2990088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1" y="3364992"/>
            <a:ext cx="1517904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800" b="1">
                <a:solidFill>
                  <a:srgbClr val="1F2A6B"/>
                </a:solidFill>
              </a:rPr>
              <a:t>나누기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1" y="3749039"/>
            <a:ext cx="1517904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공유 링크 ·
코드 다운로드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" y="4754880"/>
            <a:ext cx="5760720" cy="1965960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2" y="4864608"/>
            <a:ext cx="5303520" cy="1746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400" b="0">
                <a:solidFill>
                  <a:srgbClr val="262626"/>
                </a:solidFill>
              </a:rPr>
              <a:t>· </a:t>
            </a:r>
            <a:r>
              <a:rPr sz="1400" b="1">
                <a:solidFill>
                  <a:srgbClr val="262626"/>
                </a:solidFill>
              </a:rPr>
              <a:t>‘바이브코딩(vibe coding)’</a:t>
            </a:r>
            <a:r>
              <a:rPr sz="1400" b="0">
                <a:solidFill>
                  <a:srgbClr val="262626"/>
                </a:solidFill>
              </a:rPr>
              <a:t>은 2025년 초 안드레이 카파시가 처음 쓴 말이에요.</a:t>
            </a:r>
          </a:p>
          <a:p>
            <a:r>
              <a:rPr sz="1400" b="0">
                <a:solidFill>
                  <a:srgbClr val="262626"/>
                </a:solidFill>
              </a:rPr>
              <a:t>· 중학교 </a:t>
            </a:r>
            <a:r>
              <a:rPr sz="1400" b="1">
                <a:solidFill>
                  <a:srgbClr val="262626"/>
                </a:solidFill>
              </a:rPr>
              <a:t>「정보플러스」 인공지능 단원</a:t>
            </a:r>
            <a:r>
              <a:rPr sz="1400" b="0">
                <a:solidFill>
                  <a:srgbClr val="262626"/>
                </a:solidFill>
              </a:rPr>
              <a:t>에도 ‘바이브 코딩: 달력 앱 만들기’가 있어요.</a:t>
            </a:r>
          </a:p>
          <a:p>
            <a:r>
              <a:rPr sz="1400" b="0">
                <a:solidFill>
                  <a:srgbClr val="262626"/>
                </a:solidFill>
              </a:rPr>
              <a:t>· 튜터는 </a:t>
            </a:r>
            <a:r>
              <a:rPr sz="1400" b="1">
                <a:solidFill>
                  <a:srgbClr val="C0500C"/>
                </a:solidFill>
              </a:rPr>
              <a:t>도구를 만드는 사람</a:t>
            </a:r>
            <a:r>
              <a:rPr sz="1400" b="0">
                <a:solidFill>
                  <a:srgbClr val="262626"/>
                </a:solidFill>
              </a:rPr>
              <a:t>이면서 </a:t>
            </a:r>
            <a:r>
              <a:rPr sz="1400" b="1">
                <a:solidFill>
                  <a:srgbClr val="C0500C"/>
                </a:solidFill>
              </a:rPr>
              <a:t>학생의 바이브코딩을 돕는 사람</a:t>
            </a:r>
            <a:r>
              <a:rPr sz="1400" b="0">
                <a:solidFill>
                  <a:srgbClr val="262626"/>
                </a:solidFill>
              </a:rPr>
              <a:t>이에요.</a:t>
            </a:r>
          </a:p>
        </p:txBody>
      </p:sp>
      <p:pic>
        <p:nvPicPr>
          <p:cNvPr id="31" name="Picture 30" descr="vi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754880"/>
            <a:ext cx="3685032" cy="2074451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왜 디지털 튜터에게 바이브코딩인가?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810512"/>
            <a:ext cx="310896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safe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47672"/>
            <a:ext cx="2834640" cy="15957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21792" y="3657600"/>
            <a:ext cx="329184" cy="32918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3" y="3639312"/>
            <a:ext cx="25146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650" b="1">
                <a:solidFill>
                  <a:srgbClr val="1F2A6B"/>
                </a:solidFill>
              </a:rPr>
              <a:t>교실 지원 도구를 직접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4160520"/>
            <a:ext cx="2788920" cy="1737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수업 전 3분 안전 점검표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장애 · 사고 보고 문장 만들기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저학년 도움 신호등 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6172200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00" b="1">
                <a:solidFill>
                  <a:srgbClr val="C0500C"/>
                </a:solidFill>
              </a:rPr>
              <a:t>4차시 안전 · 위기 대응과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72" y="1810512"/>
            <a:ext cx="310896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ri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947672"/>
            <a:ext cx="2834640" cy="159573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913632" y="3657600"/>
            <a:ext cx="329184" cy="32918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3639312"/>
            <a:ext cx="25146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650" b="1">
                <a:solidFill>
                  <a:srgbClr val="1F2A6B"/>
                </a:solidFill>
              </a:rPr>
              <a:t>교재와 이어지는 저학년 놀이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4160520"/>
            <a:ext cx="2788920" cy="1737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디지털은 내 친구 1~3학년 활동을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5분 놀이 앱으로 (그림자 찾기 등)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튜터가 순회하며 돕기 쉽게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6172200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00" b="1">
                <a:solidFill>
                  <a:srgbClr val="C0500C"/>
                </a:solidFill>
              </a:rPr>
              <a:t>5차시 저학년 지원과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68312" y="1810512"/>
            <a:ext cx="310896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vib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1947672"/>
            <a:ext cx="2834640" cy="1595732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7205472" y="3657600"/>
            <a:ext cx="329184" cy="32918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3639312"/>
            <a:ext cx="25146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650" b="1">
                <a:solidFill>
                  <a:srgbClr val="1F2A6B"/>
                </a:solidFill>
              </a:rPr>
              <a:t>학생 바이브코딩 수업 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4160520"/>
            <a:ext cx="2788920" cy="1737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정보플러스 ‘달력 앱 만들기’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오류 메시지 → 다시 요청 코칭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400" b="0">
                <a:solidFill>
                  <a:srgbClr val="262626"/>
                </a:solidFill>
              </a:rPr>
              <a:t>직접 실행 · 검증하도록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6172200"/>
            <a:ext cx="2788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00" b="1">
                <a:solidFill>
                  <a:srgbClr val="C0500C"/>
                </a:solidFill>
              </a:rPr>
              <a:t>11. 7. 정보플러스 인공지능 단원과 연결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준비 — 제미나이 캔버스(Canvas) 켜기</a:t>
            </a:r>
          </a:p>
        </p:txBody>
      </p:sp>
      <p:pic>
        <p:nvPicPr>
          <p:cNvPr id="3" name="Picture 2" descr="v01_tools_canv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28800"/>
            <a:ext cx="5852160" cy="43891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4" name="Oval 3"/>
          <p:cNvSpPr/>
          <p:nvPr/>
        </p:nvSpPr>
        <p:spPr>
          <a:xfrm>
            <a:off x="6629400" y="1874519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59168" y="1837943"/>
            <a:ext cx="31546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크롬에서 gemini.google.com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2203703"/>
            <a:ext cx="315468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학교 정책에 맞는 구글 계정으로 로그인</a:t>
            </a:r>
          </a:p>
        </p:txBody>
      </p:sp>
      <p:sp>
        <p:nvSpPr>
          <p:cNvPr id="7" name="Oval 6"/>
          <p:cNvSpPr/>
          <p:nvPr/>
        </p:nvSpPr>
        <p:spPr>
          <a:xfrm>
            <a:off x="6629400" y="2926079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2889503"/>
            <a:ext cx="31546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입력창 왼쪽 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3255263"/>
            <a:ext cx="315468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파일 업로드 · 이미지 만들기 · 도구 더보기</a:t>
            </a:r>
          </a:p>
        </p:txBody>
      </p:sp>
      <p:sp>
        <p:nvSpPr>
          <p:cNvPr id="10" name="Oval 9"/>
          <p:cNvSpPr/>
          <p:nvPr/>
        </p:nvSpPr>
        <p:spPr>
          <a:xfrm>
            <a:off x="6629400" y="3977639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3941063"/>
            <a:ext cx="31546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도구 더보기 →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4306824"/>
            <a:ext cx="315468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앱을 만들고 바로 실행해 보는 작업 공간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0" y="5029200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4992624"/>
            <a:ext cx="31546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입력창에 ‘Canvas’ 칩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5358384"/>
            <a:ext cx="315468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50" b="0">
                <a:solidFill>
                  <a:srgbClr val="595959"/>
                </a:solidFill>
              </a:rPr>
              <a:t>이제 프롬프트를 붙여 넣으면 준비 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" y="6355080"/>
            <a:ext cx="9692640" cy="548640"/>
          </a:xfrm>
          <a:prstGeom prst="roundRect">
            <a:avLst>
              <a:gd name="adj" fmla="val 12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" y="6464808"/>
            <a:ext cx="9235440" cy="3291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350" b="1">
                <a:solidFill>
                  <a:srgbClr val="C0500C"/>
                </a:solidFill>
              </a:rPr>
              <a:t>TIP  </a:t>
            </a:r>
            <a:r>
              <a:rPr sz="1350" b="0">
                <a:solidFill>
                  <a:srgbClr val="262626"/>
                </a:solidFill>
              </a:rPr>
              <a:t>오른쪽 아래 모델은 ‘Pro’ — 1~2분 걸리지만 꼼꼼해요. 기다리는 동안 다음 프롬프트를 준비해요.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프롬프트 레시피 — 네 칸만 채우면 돼요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82880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C9402C"/>
                </a:solidFill>
              </a:rPr>
              <a:t>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466344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예) 너는 디지털 튜터를 돕는 웹 개발자야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301752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2B7FC4"/>
                </a:solidFill>
              </a:rPr>
              <a:t>누가 · 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466344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예) 튜터가 수업 시작 전 3분 동안 교실을 둘러보며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420624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4297679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7845A"/>
                </a:solidFill>
              </a:rPr>
              <a:t>[화면]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466344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예) ① 날짜·학년·반 ② 점검 항목과 버튼 3개 ③ 진행 막대 ④ 보고 문장 만들기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539496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C0500C"/>
                </a:solidFill>
              </a:rPr>
              <a:t>[조건]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466344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00" b="0">
                <a:solidFill>
                  <a:srgbClr val="262626"/>
                </a:solidFill>
              </a:rPr>
              <a:t>예) 큰 버튼 · 학생 이름 받지 않기 · 로그인 없이 HTML 파일 하나로</a:t>
            </a:r>
          </a:p>
        </p:txBody>
      </p:sp>
      <p:pic>
        <p:nvPicPr>
          <p:cNvPr id="15" name="Picture 14" descr="v02_prompt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4526280" cy="339471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669280" y="5257800"/>
            <a:ext cx="452628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실제 입력 화면 — 줄바꿈은 Shift + 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623560"/>
            <a:ext cx="4526280" cy="10972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번호를 붙여 </a:t>
            </a:r>
            <a:r>
              <a:rPr sz="1350" b="1">
                <a:solidFill>
                  <a:srgbClr val="C0500C"/>
                </a:solidFill>
              </a:rPr>
              <a:t>보이는 순서대로</a:t>
            </a:r>
            <a:r>
              <a:rPr sz="1350" b="0">
                <a:solidFill>
                  <a:srgbClr val="262626"/>
                </a:solidFill>
              </a:rPr>
              <a:t> 쓰면 화면이 그대로 나와요. 학년 · 글자 크기 · 개인정보 조건을 꼭 넣어요.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(실습 ①) 수업 전 3분 안전 점검표 — 4차시를 앱으로</a:t>
            </a:r>
          </a:p>
        </p:txBody>
      </p:sp>
      <p:pic>
        <p:nvPicPr>
          <p:cNvPr id="3" name="Picture 2" descr="v03_canvas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28800"/>
            <a:ext cx="4572000" cy="3429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84632" y="5285232"/>
            <a:ext cx="45720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1분 남짓 — 캔버스 오른쪽에 앱이 생겨요</a:t>
            </a:r>
          </a:p>
        </p:txBody>
      </p:sp>
      <p:pic>
        <p:nvPicPr>
          <p:cNvPr id="5" name="Picture 4" descr="v04_use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28800"/>
            <a:ext cx="3108960" cy="23317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57800" y="4178808"/>
            <a:ext cx="31089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직접 눌러 보기: 초록 · 빨강 · 파랑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0"/>
            <a:ext cx="1783080" cy="2560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날짜 · 학년 · 반 · 교시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점검 9개 × 3상태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진행 막대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보고 문장 + 복사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디지털 수업 5계명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617720"/>
            <a:ext cx="4937760" cy="1051560"/>
          </a:xfrm>
          <a:prstGeom prst="roundRect">
            <a:avLst>
              <a:gd name="adj" fmla="val 12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0" y="4727448"/>
            <a:ext cx="4480560" cy="83210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300" b="1">
                <a:solidFill>
                  <a:srgbClr val="C0500C"/>
                </a:solidFill>
              </a:rPr>
              <a:t>4차시 연결: </a:t>
            </a:r>
            <a:r>
              <a:rPr sz="1300" b="0">
                <a:solidFill>
                  <a:srgbClr val="262626"/>
                </a:solidFill>
              </a:rPr>
              <a:t>교실 배치 5관점(전선 · 보관 · 이동 · 전원·네트워크 · 교실 특성)과 장애 보고 문장을 휴대폰 한 손으로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5760720"/>
            <a:ext cx="9692640" cy="1005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5870448"/>
            <a:ext cx="9235440" cy="7863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400" b="1">
                <a:solidFill>
                  <a:srgbClr val="262626"/>
                </a:solidFill>
              </a:rPr>
              <a:t>완성 앱: </a:t>
            </a:r>
            <a:r>
              <a:rPr sz="1400" b="1">
                <a:solidFill>
                  <a:srgbClr val="1F2A6B"/>
                </a:solidFill>
              </a:rPr>
              <a:t>hongdonedu.github.io/fungigame2026/digitaltutor/apps/safety.html</a:t>
            </a:r>
          </a:p>
          <a:p>
            <a:r>
              <a:rPr sz="1250" b="0">
                <a:solidFill>
                  <a:srgbClr val="595959"/>
                </a:solidFill>
              </a:rPr>
              <a:t>프롬프트 전문은 아카이브 STEP 7 · 패들렛 ⑫ 칸에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써 보고, 고쳐 달라고 하기 — AI의 첫 결과는 초안</a:t>
            </a:r>
          </a:p>
        </p:txBody>
      </p:sp>
      <p:pic>
        <p:nvPicPr>
          <p:cNvPr id="3" name="Picture 2" descr="v05_report_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28800"/>
            <a:ext cx="3017520" cy="22631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84632" y="4160520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F2A6B"/>
                </a:solidFill>
              </a:rPr>
              <a:t>① 써 보다가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448056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50" b="0">
                <a:solidFill>
                  <a:srgbClr val="595959"/>
                </a:solidFill>
              </a:rPr>
              <a:t>‘물기 없음 항목에 문제’?</a:t>
            </a:r>
          </a:p>
        </p:txBody>
      </p:sp>
      <p:sp>
        <p:nvSpPr>
          <p:cNvPr id="6" name="Chevron 5"/>
          <p:cNvSpPr/>
          <p:nvPr/>
        </p:nvSpPr>
        <p:spPr>
          <a:xfrm>
            <a:off x="3557015" y="2788920"/>
            <a:ext cx="219456" cy="310896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v06_fix_requ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1" y="1828800"/>
            <a:ext cx="3017520" cy="22631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822191" y="4160520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F2A6B"/>
                </a:solidFill>
              </a:rPr>
              <a:t>② 말로 고쳐 달라고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448056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50" b="0">
                <a:solidFill>
                  <a:srgbClr val="595959"/>
                </a:solidFill>
              </a:rPr>
              <a:t>보이는 문제를 그대로</a:t>
            </a:r>
          </a:p>
        </p:txBody>
      </p:sp>
      <p:sp>
        <p:nvSpPr>
          <p:cNvPr id="10" name="Chevron 9"/>
          <p:cNvSpPr/>
          <p:nvPr/>
        </p:nvSpPr>
        <p:spPr>
          <a:xfrm>
            <a:off x="6894575" y="2788920"/>
            <a:ext cx="219456" cy="310896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08_report_fix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1828800"/>
            <a:ext cx="3017520" cy="22631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59752" y="4160520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500" b="1">
                <a:solidFill>
                  <a:srgbClr val="1F2A6B"/>
                </a:solidFill>
              </a:rPr>
              <a:t>③ 고친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448056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50" b="0">
                <a:solidFill>
                  <a:srgbClr val="595959"/>
                </a:solidFill>
              </a:rPr>
              <a:t>‘물기 있음’ + 조치 완료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4937760"/>
            <a:ext cx="9692640" cy="182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5029200"/>
            <a:ext cx="201168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400" b="1">
                <a:solidFill>
                  <a:srgbClr val="C0500C"/>
                </a:solidFill>
              </a:rPr>
              <a:t>고쳐 줘 프롬프트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76672"/>
            <a:ext cx="9326880" cy="1325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“고쳐 줘: ① 보고 문장에 항목 이름이 ‘물기 없음’처럼 정상 상태로 나와. ‘보고 필요’를 누른 항목은 문제 상황으로 바꿔 써 줘. ② ‘조치했어요’ 항목은 ‘~은 조치 완료’로 덧붙여 줘. ③ 맨 아래에 접었다 펴는 ‘디지털 수업 5계명’ 카드를 넣어 줘.”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(실습 ②) 디지털 친구 그림자 찾기 — 1학년 교재를 앱으로</a:t>
            </a:r>
          </a:p>
        </p:txBody>
      </p:sp>
      <p:pic>
        <p:nvPicPr>
          <p:cNvPr id="3" name="Picture 2" descr="g1_shadow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28800"/>
            <a:ext cx="4480560" cy="28634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84632" y="4736592"/>
            <a:ext cx="448056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「디지털은 내 친구 1」 똑같은 모양을 찾아요</a:t>
            </a:r>
          </a:p>
        </p:txBody>
      </p:sp>
      <p:sp>
        <p:nvSpPr>
          <p:cNvPr id="5" name="Chevron 4"/>
          <p:cNvSpPr/>
          <p:nvPr/>
        </p:nvSpPr>
        <p:spPr>
          <a:xfrm>
            <a:off x="5074920" y="3108960"/>
            <a:ext cx="274320" cy="384048"/>
          </a:xfrm>
          <a:prstGeom prst="chevron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02_shadow_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2286000" cy="17145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7" name="Picture 6" descr="b03_shadow_o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828800"/>
            <a:ext cx="2286000" cy="17145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0" y="3566160"/>
            <a:ext cx="22860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그림자 보고 고르기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566160"/>
            <a:ext cx="22860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딩동댕! 이름 읽어 주기 + 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977639"/>
            <a:ext cx="4709160" cy="9144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본체 · 모니터 · 키보드 · 마우스 · 스마트 패드 등 8문제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250" b="0">
                <a:solidFill>
                  <a:srgbClr val="262626"/>
                </a:solidFill>
              </a:rPr>
              <a:t>틀리면 흔들리기만 — 정답은 튜터가 힌트로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5166360"/>
            <a:ext cx="9692640" cy="1600200"/>
          </a:xfrm>
          <a:prstGeom prst="roundRect">
            <a:avLst>
              <a:gd name="adj" fmla="val 12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" y="5276088"/>
            <a:ext cx="9235440" cy="138074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350" b="1">
                <a:solidFill>
                  <a:srgbClr val="C0500C"/>
                </a:solidFill>
              </a:rPr>
              <a:t>튜터 포인트  </a:t>
            </a:r>
            <a:r>
              <a:rPr sz="1350" b="0">
                <a:solidFill>
                  <a:srgbClr val="262626"/>
                </a:solidFill>
              </a:rPr>
              <a:t>교재 활동을 그대로 옮기기보다 </a:t>
            </a:r>
            <a:r>
              <a:rPr sz="1350" b="1">
                <a:solidFill>
                  <a:srgbClr val="262626"/>
                </a:solidFill>
              </a:rPr>
              <a:t>‘튜터가 순회하며 도울 수 있는 5분 놀이’</a:t>
            </a:r>
            <a:r>
              <a:rPr sz="1350" b="0">
                <a:solidFill>
                  <a:srgbClr val="262626"/>
                </a:solidFill>
              </a:rPr>
              <a:t>로 짧게.</a:t>
            </a:r>
          </a:p>
          <a:p>
            <a:r>
              <a:rPr sz="1350" b="0">
                <a:solidFill>
                  <a:srgbClr val="262626"/>
                </a:solidFill>
              </a:rPr>
              <a:t>소리 나는 앱은 수업 전에 음량 · 이어폰 규칙을 담임 선생님과 맞춰요.  완성 앱: </a:t>
            </a:r>
            <a:r>
              <a:rPr sz="1350" b="1">
                <a:solidFill>
                  <a:srgbClr val="1F2A6B"/>
                </a:solidFill>
              </a:rPr>
              <a:t>…/digitaltutor/apps/shadow.html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(실습 ③) 도움 신호등 — 손을 들지 않아도 알아보게</a:t>
            </a:r>
          </a:p>
        </p:txBody>
      </p:sp>
      <p:pic>
        <p:nvPicPr>
          <p:cNvPr id="3" name="Picture 2" descr="c01_signal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28800"/>
            <a:ext cx="3017520" cy="22631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84632" y="416052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50" b="1">
                <a:solidFill>
                  <a:srgbClr val="1F2A6B"/>
                </a:solidFill>
              </a:rPr>
              <a:t>초록 · 노랑 · 빨강 큰 버튼</a:t>
            </a:r>
          </a:p>
        </p:txBody>
      </p:sp>
      <p:pic>
        <p:nvPicPr>
          <p:cNvPr id="5" name="Picture 4" descr="c02_signal_w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1" y="1828800"/>
            <a:ext cx="3017520" cy="22631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822191" y="416052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50" b="1">
                <a:solidFill>
                  <a:srgbClr val="1F2A6B"/>
                </a:solidFill>
              </a:rPr>
              <a:t>빨강 → 무엇이 안 되나요?</a:t>
            </a:r>
          </a:p>
        </p:txBody>
      </p:sp>
      <p:pic>
        <p:nvPicPr>
          <p:cNvPr id="7" name="Picture 6" descr="c05_signal_fix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1828800"/>
            <a:ext cx="3017520" cy="22631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159752" y="4160520"/>
            <a:ext cx="3017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50" b="1">
                <a:solidFill>
                  <a:srgbClr val="1F2A6B"/>
                </a:solidFill>
              </a:rPr>
              <a:t>고친 화면: 처음으로 · 깜빡이는 테두리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4617720"/>
            <a:ext cx="4754880" cy="2103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1~3학년이 글을 몰라도 색과 그림으로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로그인 · 소리 · 인터넷 · 화면 그림 버튼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기다린 시간(초)이 보여요</a:t>
            </a:r>
          </a:p>
          <a:p>
            <a:pPr marL="219456" indent="-219456">
              <a:spcAft>
                <a:spcPts val="4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처음 결과에서 글자가 겹쳐 ‘고쳐 줘’로 해결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617720"/>
            <a:ext cx="4800600" cy="2103120"/>
          </a:xfrm>
          <a:prstGeom prst="roundRect">
            <a:avLst>
              <a:gd name="adj" fmla="val 12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23560" y="4727448"/>
            <a:ext cx="4343400" cy="188366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350" b="1">
                <a:solidFill>
                  <a:srgbClr val="C0500C"/>
                </a:solidFill>
              </a:rPr>
              <a:t>튜터 포인트</a:t>
            </a:r>
          </a:p>
          <a:p>
            <a:r>
              <a:rPr sz="1350" b="0">
                <a:solidFill>
                  <a:srgbClr val="262626"/>
                </a:solidFill>
              </a:rPr>
              <a:t>빨강이 여러 대라면 가까운 자리보다 </a:t>
            </a:r>
            <a:r>
              <a:rPr sz="1350" b="1">
                <a:solidFill>
                  <a:srgbClr val="262626"/>
                </a:solidFill>
              </a:rPr>
              <a:t>기다린 시간이 긴 학생</a:t>
            </a:r>
            <a:r>
              <a:rPr sz="1350" b="0">
                <a:solidFill>
                  <a:srgbClr val="262626"/>
                </a:solidFill>
              </a:rPr>
              <a:t>부터.</a:t>
            </a:r>
          </a:p>
          <a:p>
            <a:r>
              <a:rPr sz="1350" b="0">
                <a:solidFill>
                  <a:srgbClr val="262626"/>
                </a:solidFill>
              </a:rPr>
              <a:t>도착하면 대신 누르지 말고 “인터넷이 안 되는구나, 어디까지 했어?”로 시작해요.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나누기 — 공유 링크와 코드 다운로드</a:t>
            </a:r>
          </a:p>
        </p:txBody>
      </p:sp>
      <p:pic>
        <p:nvPicPr>
          <p:cNvPr id="3" name="Picture 2" descr="v11_share_li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28800"/>
            <a:ext cx="4663440" cy="34975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4" name="Picture 3" descr="v09_ex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828800"/>
            <a:ext cx="4663440" cy="34975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84632" y="5358384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F2A6B"/>
                </a:solidFill>
              </a:rPr>
              <a:t>공유 → 공개 링크 (share.gemini.google/…)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5358384"/>
            <a:ext cx="466344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/>
            <a:r>
              <a:rPr sz="1200" b="1">
                <a:solidFill>
                  <a:srgbClr val="1F2A6B"/>
                </a:solidFill>
              </a:rPr>
              <a:t>내보내기 → 코드 다운로드 · Google Sites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5760720"/>
            <a:ext cx="9692640" cy="1024128"/>
          </a:xfrm>
          <a:prstGeom prst="roundRect">
            <a:avLst>
              <a:gd name="adj" fmla="val 12000"/>
            </a:avLst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5870448"/>
            <a:ext cx="9235440" cy="8046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공개 링크는 누구나 열 수 있어요 — 개인정보 없는 앱만, 필요 없으면 삭제.  </a:t>
            </a:r>
            <a:r>
              <a:rPr sz="1350" b="1">
                <a:solidFill>
                  <a:srgbClr val="262626"/>
                </a:solidFill>
              </a:rPr>
              <a:t>코드 다운로드</a:t>
            </a:r>
            <a:r>
              <a:rPr sz="1350" b="0">
                <a:solidFill>
                  <a:srgbClr val="262626"/>
                </a:solidFill>
              </a:rPr>
              <a:t>는 index.html 한 개 → USB · 학급 홈페이지로.</a:t>
            </a:r>
          </a:p>
          <a:p>
            <a:r>
              <a:rPr sz="1350" b="0">
                <a:solidFill>
                  <a:srgbClr val="262626"/>
                </a:solidFill>
              </a:rPr>
              <a:t>만든 앱 링크는 </a:t>
            </a:r>
            <a:r>
              <a:rPr sz="1350" b="1">
                <a:solidFill>
                  <a:srgbClr val="C0500C"/>
                </a:solidFill>
              </a:rPr>
              <a:t>패들렛 ⑫ 바이브코딩 칸</a:t>
            </a:r>
            <a:r>
              <a:rPr sz="1350" b="0">
                <a:solidFill>
                  <a:srgbClr val="262626"/>
                </a:solidFill>
              </a:rPr>
              <a:t>에 한 줄 설명과 함께!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학생이 바이브코딩할 때 — 튜터 지원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682496"/>
            <a:ext cx="969264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00" b="0">
                <a:solidFill>
                  <a:srgbClr val="595959"/>
                </a:solidFill>
              </a:rPr>
              <a:t>정답을 대신 주기보다 ‘직접 실행 · 검증 · 수정’ 경험을 지켜 줘요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632" y="2148840"/>
          <a:ext cx="9692640" cy="3886200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2651760"/>
                <a:gridCol w="5486400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</a:rPr>
                        <a:t>학생의 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626"/>
                          </a:solidFill>
                        </a:rPr>
                        <a:t>튜터의 대응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코드 오류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“에러가 나요!”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오류 메시지를 그대로 AI에게 붙여 넣고 “이 오류를 고쳐 줘” — 같은 오류가 반복되면 새 대화에서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화면 깨짐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“파일을 열었더니 이상해요”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확장자가 .html인지, 메모장으로 저장했다면 UTF-8인지 확인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AI 과신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“AI가 다 해 주는 거 아니에요?”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“직접 눌러 봤어요? 원하는 대로 되는지 확인하고 제출해요.”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고칠수록 꼬임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“고쳤더니 다른 게 망가졌어요”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“지금 기능은 그대로 두고 ~만 바꿔 줘”처럼 조건을 구체적으로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632" y="6263640"/>
            <a:ext cx="9692640" cy="4572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200" b="0">
                <a:solidFill>
                  <a:srgbClr val="595959"/>
                </a:solidFill>
              </a:rPr>
              <a:t>참고: 지역특화과정 12차시 교안(정보플러스 인공지능 단원) 트러블슈팅 가이드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바이브코딩, 여섯 가지 약속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828800"/>
            <a:ext cx="475488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85800" y="2057400"/>
            <a:ext cx="420624" cy="42062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2029968"/>
            <a:ext cx="38404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F2A6B"/>
                </a:solidFill>
              </a:rPr>
              <a:t>이름 대신 번호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46888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프롬프트와 앱에 학생 이름 · 사진 · 연락처를 넣지 않아요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2392" y="1828800"/>
            <a:ext cx="475488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623560" y="2057400"/>
            <a:ext cx="420624" cy="42062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2029968"/>
            <a:ext cx="38404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F2A6B"/>
                </a:solidFill>
              </a:rPr>
              <a:t>직접 눌러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246888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AI의 첫 결과는 초안 — 써 보고 고치기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3429000"/>
            <a:ext cx="475488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85800" y="3657600"/>
            <a:ext cx="420624" cy="42062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630168"/>
            <a:ext cx="38404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F2A6B"/>
                </a:solidFill>
              </a:rPr>
              <a:t>공개 링크는 필요한 만큼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06908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공유 링크는 누구나 열 수 있어요. 필요 없으면 삭제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2392" y="3429000"/>
            <a:ext cx="475488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623560" y="3657600"/>
            <a:ext cx="420624" cy="42062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3630168"/>
            <a:ext cx="38404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F2A6B"/>
                </a:solidFill>
              </a:rPr>
              <a:t>열쇠는 숨기기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06908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API 키 · 비밀번호는 코드에 넣지 않아요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" y="5029200"/>
            <a:ext cx="475488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85800" y="5257800"/>
            <a:ext cx="420624" cy="42062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230368"/>
            <a:ext cx="38404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F2A6B"/>
                </a:solidFill>
              </a:rPr>
              <a:t>그림 · 소리 출처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66928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앱에 넣는 이미지 · 음원도 저작권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22392" y="5029200"/>
            <a:ext cx="475488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23560" y="5257800"/>
            <a:ext cx="420624" cy="420624"/>
          </a:xfrm>
          <a:prstGeom prst="ellips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5230368"/>
            <a:ext cx="384048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700" b="1">
                <a:solidFill>
                  <a:srgbClr val="1F2A6B"/>
                </a:solidFill>
              </a:rPr>
              <a:t>학교 규칙 먼저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5669280"/>
            <a:ext cx="3840480" cy="6858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350" b="0">
                <a:solidFill>
                  <a:srgbClr val="262626"/>
                </a:solidFill>
              </a:rPr>
              <a:t>생성형 AI 사용 연령 · 학교 정책을 담임 선생님과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(실습) 내 도구 만들기 — 틀에 괄호만 채워요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828800"/>
            <a:ext cx="5577840" cy="42062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85800" y="1938528"/>
            <a:ext cx="5212080" cy="4023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400" b="0">
                <a:solidFill>
                  <a:srgbClr val="262626"/>
                </a:solidFill>
              </a:rPr>
              <a:t>너는 디지털 튜터를 돕는 웹 개발자야. </a:t>
            </a:r>
            <a:r>
              <a:rPr sz="1400" b="1">
                <a:solidFill>
                  <a:srgbClr val="C0500C"/>
                </a:solidFill>
              </a:rPr>
              <a:t>( 누가 ) ( 언제 )</a:t>
            </a:r>
            <a:r>
              <a:rPr sz="1400" b="0">
                <a:solidFill>
                  <a:srgbClr val="262626"/>
                </a:solidFill>
              </a:rPr>
              <a:t> 쓰는 </a:t>
            </a:r>
            <a:r>
              <a:rPr sz="1400" b="1">
                <a:solidFill>
                  <a:srgbClr val="C0500C"/>
                </a:solidFill>
              </a:rPr>
              <a:t>‘( 앱 이름 )’</a:t>
            </a:r>
            <a:r>
              <a:rPr sz="1400" b="0">
                <a:solidFill>
                  <a:srgbClr val="262626"/>
                </a:solidFill>
              </a:rPr>
              <a:t> 웹앱을 만들어줘.</a:t>
            </a:r>
          </a:p>
          <a:p>
            <a:r>
              <a:rPr sz="1400" b="0">
                <a:solidFill>
                  <a:srgbClr val="262626"/>
                </a:solidFill>
              </a:rPr>
              <a:t/>
            </a:r>
          </a:p>
          <a:p>
            <a:r>
              <a:rPr sz="1400" b="1">
                <a:solidFill>
                  <a:srgbClr val="262626"/>
                </a:solidFill>
              </a:rPr>
              <a:t>[화면]</a:t>
            </a:r>
          </a:p>
          <a:p>
            <a:r>
              <a:rPr sz="1400" b="0">
                <a:solidFill>
                  <a:srgbClr val="262626"/>
                </a:solidFill>
              </a:rPr>
              <a:t>① </a:t>
            </a:r>
          </a:p>
          <a:p>
            <a:r>
              <a:rPr sz="1400" b="0">
                <a:solidFill>
                  <a:srgbClr val="262626"/>
                </a:solidFill>
              </a:rPr>
              <a:t>② </a:t>
            </a:r>
          </a:p>
          <a:p>
            <a:r>
              <a:rPr sz="1400" b="0">
                <a:solidFill>
                  <a:srgbClr val="262626"/>
                </a:solidFill>
              </a:rPr>
              <a:t>③ </a:t>
            </a:r>
          </a:p>
          <a:p>
            <a:r>
              <a:rPr sz="1400" b="0">
                <a:solidFill>
                  <a:srgbClr val="262626"/>
                </a:solidFill>
              </a:rPr>
              <a:t/>
            </a:r>
          </a:p>
          <a:p>
            <a:r>
              <a:rPr sz="1400" b="1">
                <a:solidFill>
                  <a:srgbClr val="262626"/>
                </a:solidFill>
              </a:rPr>
              <a:t>[조건]</a:t>
            </a:r>
          </a:p>
          <a:p>
            <a:r>
              <a:rPr sz="1400" b="0">
                <a:solidFill>
                  <a:srgbClr val="262626"/>
                </a:solidFill>
              </a:rPr>
              <a:t>- ( 학년 ) 눈높이: 글자 크기, 버튼 크기</a:t>
            </a:r>
          </a:p>
          <a:p>
            <a:r>
              <a:rPr sz="1400" b="0">
                <a:solidFill>
                  <a:srgbClr val="262626"/>
                </a:solidFill>
              </a:rPr>
              <a:t>- 학생 이름 · 사진 등 개인정보는 받지 않기</a:t>
            </a:r>
          </a:p>
          <a:p>
            <a:r>
              <a:rPr sz="1400" b="0">
                <a:solidFill>
                  <a:srgbClr val="262626"/>
                </a:solidFill>
              </a:rPr>
              <a:t>- 로그인 없이 HTML 파일 하나로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38862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600" b="1">
                <a:solidFill>
                  <a:srgbClr val="1F2A6B"/>
                </a:solidFill>
              </a:rPr>
              <a:t>이런 도구는 어때요?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3886200" cy="2103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기기 대여 · 반납 확인표 (번호만)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키보드 자리 찾기 놀이 (1학년)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디지털 수업 5계명 OX 퀴즈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마우스 클릭 · 드래그 연습판</a:t>
            </a:r>
          </a:p>
          <a:p>
            <a:pPr marL="219456" indent="-219456">
              <a:spcAft>
                <a:spcPts val="300"/>
              </a:spcAft>
              <a:buClr>
                <a:srgbClr val="ED7D31"/>
              </a:buClr>
              <a:buChar char="▪"/>
            </a:pPr>
            <a:r>
              <a:rPr sz="1350" b="0">
                <a:solidFill>
                  <a:srgbClr val="262626"/>
                </a:solidFill>
              </a:rPr>
              <a:t>튜터 순회 기록 메모</a:t>
            </a:r>
          </a:p>
        </p:txBody>
      </p:sp>
      <p:pic>
        <p:nvPicPr>
          <p:cNvPr id="7" name="Picture 6" descr="qr_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526280"/>
            <a:ext cx="13258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572000"/>
            <a:ext cx="2423160" cy="12801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400" b="1">
                <a:solidFill>
                  <a:srgbClr val="1F2A6B"/>
                </a:solidFill>
              </a:rPr>
              <a:t>아카이브</a:t>
            </a:r>
          </a:p>
          <a:p>
            <a:r>
              <a:rPr sz="1200" b="0">
                <a:solidFill>
                  <a:srgbClr val="595959"/>
                </a:solidFill>
              </a:rPr>
              <a:t>프롬프트 · 실제 화면 · 완성 앱</a:t>
            </a:r>
          </a:p>
          <a:p>
            <a:r>
              <a:rPr sz="1200" b="0">
                <a:solidFill>
                  <a:srgbClr val="C0500C"/>
                </a:solidFill>
              </a:rPr>
              <a:t>시간이 남으면 → 바이브코딩 길잡이(⑤⑥⑦ 맛보기)로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6217920"/>
            <a:ext cx="9692640" cy="548640"/>
          </a:xfrm>
          <a:prstGeom prst="roundRect">
            <a:avLst>
              <a:gd name="adj" fmla="val 12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6327648"/>
            <a:ext cx="9235440" cy="3291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r>
              <a:rPr sz="1400" b="0">
                <a:solidFill>
                  <a:srgbClr val="262626"/>
                </a:solidFill>
              </a:rPr>
              <a:t>다 만들면 공유 링크를 </a:t>
            </a:r>
            <a:r>
              <a:rPr sz="1400" b="1">
                <a:solidFill>
                  <a:srgbClr val="C0500C"/>
                </a:solidFill>
              </a:rPr>
              <a:t>패들렛 ⑫ 칸</a:t>
            </a:r>
            <a:r>
              <a:rPr sz="1400" b="0">
                <a:solidFill>
                  <a:srgbClr val="262626"/>
                </a:solidFill>
              </a:rPr>
              <a:t>에 — 어떤 상황에 쓸지 한 줄과 함께!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243584"/>
            <a:ext cx="969264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2000" b="1">
                <a:solidFill>
                  <a:srgbClr val="262626"/>
                </a:solidFill>
              </a:rPr>
              <a:t>핵심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874519"/>
            <a:ext cx="9692640" cy="3657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marL="219456" indent="-219456">
              <a:spcAft>
                <a:spcPts val="1200"/>
              </a:spcAft>
              <a:buClr>
                <a:srgbClr val="ED7D31"/>
              </a:buClr>
              <a:buChar char="▪"/>
            </a:pPr>
            <a:r>
              <a:rPr sz="1600" b="0">
                <a:solidFill>
                  <a:srgbClr val="262626"/>
                </a:solidFill>
              </a:rPr>
              <a:t>바이브코딩은 원하는 것을 말로 설명하고, AI가 만든 결과를 직접 실행해 보며 대화로 고쳐 나가는 방식이다.</a:t>
            </a:r>
          </a:p>
          <a:p>
            <a:pPr marL="219456" indent="-219456">
              <a:spcAft>
                <a:spcPts val="1200"/>
              </a:spcAft>
              <a:buClr>
                <a:srgbClr val="ED7D31"/>
              </a:buClr>
              <a:buChar char="▪"/>
            </a:pPr>
            <a:r>
              <a:rPr sz="1600" b="0">
                <a:solidFill>
                  <a:srgbClr val="262626"/>
                </a:solidFill>
              </a:rPr>
              <a:t>튜터용 앱 프롬프트는 역할 · 누가/언제 · [화면] · [조건] 네 칸으로 쓰고, 학년 눈높이와 개인정보 조건을 꼭 넣는다.</a:t>
            </a:r>
          </a:p>
          <a:p>
            <a:pPr marL="219456" indent="-219456">
              <a:spcAft>
                <a:spcPts val="1200"/>
              </a:spcAft>
              <a:buClr>
                <a:srgbClr val="ED7D31"/>
              </a:buClr>
              <a:buChar char="▪"/>
            </a:pPr>
            <a:r>
              <a:rPr sz="1600" b="0">
                <a:solidFill>
                  <a:srgbClr val="262626"/>
                </a:solidFill>
              </a:rPr>
              <a:t>AI의 첫 결과는 초안이다. 튜터가 먼저 써 보고, 보이는 문제를 그대로 말해 고쳐 달라고 한다.</a:t>
            </a:r>
          </a:p>
          <a:p>
            <a:pPr marL="219456" indent="-219456">
              <a:spcAft>
                <a:spcPts val="1200"/>
              </a:spcAft>
              <a:buClr>
                <a:srgbClr val="ED7D31"/>
              </a:buClr>
              <a:buChar char="▪"/>
            </a:pPr>
            <a:r>
              <a:rPr sz="1600" b="0">
                <a:solidFill>
                  <a:srgbClr val="262626"/>
                </a:solidFill>
              </a:rPr>
              <a:t>학생의 바이브코딩을 도울 때는 대신 고쳐 주기보다 오류 메시지 활용, 직접 실행 · 검증, 구체적인 조건 추가를 코칭한다.</a:t>
            </a:r>
          </a:p>
        </p:txBody>
      </p:sp>
      <p:pic>
        <p:nvPicPr>
          <p:cNvPr id="4" name="Picture 3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572000"/>
            <a:ext cx="3886200" cy="218769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84632" y="5669280"/>
            <a:ext cx="5577840" cy="10058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r>
              <a:rPr sz="1800" b="1">
                <a:solidFill>
                  <a:srgbClr val="1F2A6B"/>
                </a:solidFill>
              </a:rPr>
              <a:t>지키고 → 돕고 → 만들고 → 나누기</a:t>
            </a:r>
          </a:p>
          <a:p>
            <a:r>
              <a:rPr sz="1300" b="0">
                <a:solidFill>
                  <a:srgbClr val="595959"/>
                </a:solidFill>
              </a:rPr>
              <a:t>4차시 안전 · 5차시 저학년 지원이 오늘 만든 도구 안에 들어 있어요.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363C9082-43BA-9D4B-F353-B556C60E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18DA0187-9963-C570-E22E-65A326D6EAE4}"/>
              </a:ext>
            </a:extLst>
          </p:cNvPr>
          <p:cNvSpPr/>
          <p:nvPr/>
        </p:nvSpPr>
        <p:spPr>
          <a:xfrm>
            <a:off x="489400" y="1439258"/>
            <a:ext cx="9715919" cy="359849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6CFEFFFB-0BD3-102C-6249-1CB8B62DC127}"/>
              </a:ext>
            </a:extLst>
          </p:cNvPr>
          <p:cNvSpPr/>
          <p:nvPr/>
        </p:nvSpPr>
        <p:spPr>
          <a:xfrm>
            <a:off x="489400" y="4111861"/>
            <a:ext cx="9715919" cy="359849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9373462-279B-97D9-45F5-5ED8624E9D17}"/>
              </a:ext>
            </a:extLst>
          </p:cNvPr>
          <p:cNvSpPr/>
          <p:nvPr/>
        </p:nvSpPr>
        <p:spPr>
          <a:xfrm>
            <a:off x="489402" y="1796965"/>
            <a:ext cx="9715919" cy="611743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9B82787-C77C-4390-E8C9-708BF2DB97EA}"/>
              </a:ext>
            </a:extLst>
          </p:cNvPr>
          <p:cNvSpPr/>
          <p:nvPr/>
        </p:nvSpPr>
        <p:spPr>
          <a:xfrm>
            <a:off x="489402" y="4469568"/>
            <a:ext cx="9715919" cy="611743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Google Shape;2920;p34">
            <a:extLst>
              <a:ext uri="{FF2B5EF4-FFF2-40B4-BE49-F238E27FC236}">
                <a16:creationId xmlns:a16="http://schemas.microsoft.com/office/drawing/2014/main" id="{55366220-D9B9-B4AF-F53C-7B03403E731D}"/>
              </a:ext>
            </a:extLst>
          </p:cNvPr>
          <p:cNvSpPr txBox="1"/>
          <p:nvPr/>
        </p:nvSpPr>
        <p:spPr>
          <a:xfrm>
            <a:off x="678434" y="820633"/>
            <a:ext cx="5787180" cy="33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B1A9"/>
              </a:buClr>
              <a:buSzPts val="2200"/>
            </a:pPr>
            <a:r>
              <a:rPr lang="ko-KR" altLang="en-US" sz="219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평가 문항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0598EE-871D-DB87-9818-A6039B6EF59D}"/>
              </a:ext>
            </a:extLst>
          </p:cNvPr>
          <p:cNvGrpSpPr/>
          <p:nvPr/>
        </p:nvGrpSpPr>
        <p:grpSpPr>
          <a:xfrm>
            <a:off x="646439" y="2564915"/>
            <a:ext cx="432047" cy="497909"/>
            <a:chOff x="895292" y="1878542"/>
            <a:chExt cx="432228" cy="498118"/>
          </a:xfrm>
        </p:grpSpPr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AF79B76F-598A-DA96-1452-16B96F2FC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9" name="Rectangle 31">
              <a:extLst>
                <a:ext uri="{FF2B5EF4-FFF2-40B4-BE49-F238E27FC236}">
                  <a16:creationId xmlns:a16="http://schemas.microsoft.com/office/drawing/2014/main" id="{72943391-8DA6-AF2A-3F48-BA2CBF2B5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11" name="Rectangle 31">
            <a:extLst>
              <a:ext uri="{FF2B5EF4-FFF2-40B4-BE49-F238E27FC236}">
                <a16:creationId xmlns:a16="http://schemas.microsoft.com/office/drawing/2014/main" id="{F62F7DB1-84E0-7B7B-33A7-159E894AD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95" y="4161036"/>
            <a:ext cx="2022990" cy="2614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079" algn="l"/>
              </a:tabLst>
            </a:pPr>
            <a:r>
              <a:rPr lang="en-US" altLang="ko-KR" sz="1699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프롬프트 구성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303925-D527-2D59-5430-B52F5502BDDB}"/>
              </a:ext>
            </a:extLst>
          </p:cNvPr>
          <p:cNvGrpSpPr/>
          <p:nvPr/>
        </p:nvGrpSpPr>
        <p:grpSpPr>
          <a:xfrm>
            <a:off x="646439" y="5237519"/>
            <a:ext cx="432047" cy="497909"/>
            <a:chOff x="895292" y="1878542"/>
            <a:chExt cx="432228" cy="498118"/>
          </a:xfrm>
        </p:grpSpPr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B0AAA2D2-A43D-5599-6033-8AC2BFA6C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E2F91F00-DEF3-B7A0-8BE4-3B4748646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A0999E9-B7DB-434D-4B88-CB0C20E57E9C}"/>
              </a:ext>
            </a:extLst>
          </p:cNvPr>
          <p:cNvSpPr/>
          <p:nvPr/>
        </p:nvSpPr>
        <p:spPr>
          <a:xfrm>
            <a:off x="489402" y="1439258"/>
            <a:ext cx="9716182" cy="5361910"/>
          </a:xfrm>
          <a:prstGeom prst="roundRect">
            <a:avLst>
              <a:gd name="adj" fmla="val 1054"/>
            </a:avLst>
          </a:prstGeom>
          <a:noFill/>
          <a:ln>
            <a:solidFill>
              <a:srgbClr val="F4973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B9B8B20-EEA8-8278-A7CD-C26B8D6862C7}"/>
              </a:ext>
            </a:extLst>
          </p:cNvPr>
          <p:cNvGrpSpPr/>
          <p:nvPr/>
        </p:nvGrpSpPr>
        <p:grpSpPr>
          <a:xfrm>
            <a:off x="646439" y="1828836"/>
            <a:ext cx="8951291" cy="609140"/>
            <a:chOff x="642878" y="1829606"/>
            <a:chExt cx="8955051" cy="60939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DB57EC0-83D5-D141-9B58-12EB7D56E921}"/>
                </a:ext>
              </a:extLst>
            </p:cNvPr>
            <p:cNvGrpSpPr/>
            <p:nvPr/>
          </p:nvGrpSpPr>
          <p:grpSpPr>
            <a:xfrm>
              <a:off x="642878" y="1829606"/>
              <a:ext cx="8955051" cy="609396"/>
              <a:chOff x="895292" y="1731268"/>
              <a:chExt cx="8955051" cy="609396"/>
            </a:xfrm>
          </p:grpSpPr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E851CD29-404C-65C1-8499-95857B070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684" y="1731268"/>
                <a:ext cx="8299659" cy="6093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079" algn="l"/>
                  </a:tabLst>
                </a:pPr>
                <a:r>
                  <a:rPr lang="ko-KR" altLang="en-US" sz="1799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제미나이 캔버스로 만든 점검표의 보고 문장이 ‘물기 없음 항목에 문제’처럼 어색하게 나왔습니다. 튜터가 할 일을 바이브코딩의 흐름에 맞게 설명하시오.</a:t>
                </a: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A99A7DBF-545B-E245-B461-FE62473896DD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DB097B8B-62F9-DCF1-300C-E045873C9C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B1FD4D2D-3E7D-38D4-108B-B6230B6B03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2" tIns="45701" rIns="91402" bIns="45701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41282A74-4A84-0ADC-E3DB-30D273AC1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1888325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3BF8194-BEBE-182F-FF29-DE83B7B13D8E}"/>
              </a:ext>
            </a:extLst>
          </p:cNvPr>
          <p:cNvGrpSpPr/>
          <p:nvPr/>
        </p:nvGrpSpPr>
        <p:grpSpPr>
          <a:xfrm>
            <a:off x="646438" y="4518764"/>
            <a:ext cx="9424384" cy="609142"/>
            <a:chOff x="642878" y="4520659"/>
            <a:chExt cx="8843363" cy="609397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AF92EB26-CD7B-2029-3A26-05521EF60C03}"/>
                </a:ext>
              </a:extLst>
            </p:cNvPr>
            <p:cNvGrpSpPr/>
            <p:nvPr/>
          </p:nvGrpSpPr>
          <p:grpSpPr>
            <a:xfrm>
              <a:off x="642878" y="4520659"/>
              <a:ext cx="8843363" cy="609397"/>
              <a:chOff x="895292" y="1748595"/>
              <a:chExt cx="8843363" cy="609397"/>
            </a:xfrm>
          </p:grpSpPr>
          <p:sp>
            <p:nvSpPr>
              <p:cNvPr id="26" name="Rectangle 31">
                <a:extLst>
                  <a:ext uri="{FF2B5EF4-FFF2-40B4-BE49-F238E27FC236}">
                    <a16:creationId xmlns:a16="http://schemas.microsoft.com/office/drawing/2014/main" id="{F96AD59C-1536-2436-04D4-9F81B05D3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8996" y="1748595"/>
                <a:ext cx="8299659" cy="6093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079" algn="l"/>
                  </a:tabLst>
                </a:pPr>
                <a:r>
                  <a:rPr lang="ko-KR" altLang="en-US" sz="1799" dirty="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solidFill>
                      <a:srgbClr val="0F1A2C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튜터용 웹앱을 만드는 프롬프트에 담아야 할 네 가지 요소를 쓰시오.</a:t>
                </a:r>
              </a:p>
            </p:txBody>
          </p: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96271386-4EBC-5468-10BE-C5506058373F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28" name="Freeform 21">
                  <a:extLst>
                    <a:ext uri="{FF2B5EF4-FFF2-40B4-BE49-F238E27FC236}">
                      <a16:creationId xmlns:a16="http://schemas.microsoft.com/office/drawing/2014/main" id="{776CF005-DE53-4DD4-BBF6-5332E6DBDC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9" name="Freeform 22">
                  <a:extLst>
                    <a:ext uri="{FF2B5EF4-FFF2-40B4-BE49-F238E27FC236}">
                      <a16:creationId xmlns:a16="http://schemas.microsoft.com/office/drawing/2014/main" id="{0585DD3F-0602-8434-DEAA-54F8666BC0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2" tIns="45701" rIns="91402" bIns="45701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25" name="Rectangle 31">
              <a:extLst>
                <a:ext uri="{FF2B5EF4-FFF2-40B4-BE49-F238E27FC236}">
                  <a16:creationId xmlns:a16="http://schemas.microsoft.com/office/drawing/2014/main" id="{A0291761-39B7-2FDB-72A8-2D565C3B6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84" y="4562051"/>
              <a:ext cx="243574" cy="473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sp>
        <p:nvSpPr>
          <p:cNvPr id="34" name="Rectangle 31">
            <a:extLst>
              <a:ext uri="{FF2B5EF4-FFF2-40B4-BE49-F238E27FC236}">
                <a16:creationId xmlns:a16="http://schemas.microsoft.com/office/drawing/2014/main" id="{4F0C1500-1695-3368-1E2B-F1F6D5DA8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83" y="1488432"/>
            <a:ext cx="3294172" cy="2614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079" algn="l"/>
              </a:tabLst>
            </a:pPr>
            <a:r>
              <a:rPr lang="ko-KR" altLang="en-US" sz="1699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바이브코딩의 흐름</a:t>
            </a:r>
          </a:p>
        </p:txBody>
      </p:sp>
      <p:sp>
        <p:nvSpPr>
          <p:cNvPr id="35" name="Google Shape;2922;p34">
            <a:extLst>
              <a:ext uri="{FF2B5EF4-FFF2-40B4-BE49-F238E27FC236}">
                <a16:creationId xmlns:a16="http://schemas.microsoft.com/office/drawing/2014/main" id="{874E9096-EB9A-C888-0544-D5DBA2D0E235}"/>
              </a:ext>
            </a:extLst>
          </p:cNvPr>
          <p:cNvSpPr txBox="1"/>
          <p:nvPr/>
        </p:nvSpPr>
        <p:spPr>
          <a:xfrm>
            <a:off x="1250500" y="5353927"/>
            <a:ext cx="860061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b="1" dirty="0"/>
              <a:t>역할 · 누가/언제 · [화면] · [조건]</a:t>
            </a:r>
            <a:br>
              <a:rPr lang="en-US" altLang="ko-KR" b="1" dirty="0"/>
            </a:br>
            <a:r>
              <a:rPr lang="en-US" altLang="ko-KR" dirty="0"/>
              <a:t>AI의 역할, 쓰는 사람과 장면, 번호를 붙인 화면 구성, 학년 눈높이 · 개인정보 · 파일 형태 같은 조건을 담는다.</a:t>
            </a:r>
          </a:p>
        </p:txBody>
      </p:sp>
      <p:sp>
        <p:nvSpPr>
          <p:cNvPr id="36" name="Google Shape;2922;p34">
            <a:extLst>
              <a:ext uri="{FF2B5EF4-FFF2-40B4-BE49-F238E27FC236}">
                <a16:creationId xmlns:a16="http://schemas.microsoft.com/office/drawing/2014/main" id="{BD2D4770-083C-8546-C1EA-03C26028B1DE}"/>
              </a:ext>
            </a:extLst>
          </p:cNvPr>
          <p:cNvSpPr txBox="1"/>
          <p:nvPr/>
        </p:nvSpPr>
        <p:spPr>
          <a:xfrm>
            <a:off x="1250500" y="2679804"/>
            <a:ext cx="8600611" cy="90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F3F3F"/>
              </a:buClr>
              <a:buSzPct val="90000"/>
            </a:pPr>
            <a:r>
              <a:rPr lang="ko-KR" altLang="en-US" sz="1799" b="1" dirty="0"/>
              <a:t>써 보기 → 고치기</a:t>
            </a:r>
            <a:br>
              <a:rPr lang="ko-KR" altLang="en-US" sz="1799" b="1" dirty="0"/>
            </a:br>
            <a:r>
              <a:rPr lang="ko-KR" altLang="en-US" sz="1799" dirty="0"/>
              <a:t>AI의 첫 결과는 초안이다. 직접 눌러 보며 이상한 점을 찾고, ‘보고 필요 항목은 문제 상황으로 바꿔 써 줘’처럼 무엇을 어떻게 바꿀지 말로 다시 요청한다.</a:t>
            </a:r>
          </a:p>
        </p:txBody>
      </p:sp>
    </p:spTree>
    <p:extLst>
      <p:ext uri="{BB962C8B-B14F-4D97-AF65-F5344CB8AC3E}">
        <p14:creationId xmlns:p14="http://schemas.microsoft.com/office/powerpoint/2010/main" val="500975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C43E14D0-7741-8D68-D623-D8EFE9E0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7762447A-9863-ACD2-F686-6AD47275E32F}"/>
              </a:ext>
            </a:extLst>
          </p:cNvPr>
          <p:cNvSpPr/>
          <p:nvPr/>
        </p:nvSpPr>
        <p:spPr>
          <a:xfrm>
            <a:off x="489400" y="1439258"/>
            <a:ext cx="9715919" cy="359849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8558E6CB-466F-DA90-AA35-7EE36CA3FF6C}"/>
              </a:ext>
            </a:extLst>
          </p:cNvPr>
          <p:cNvSpPr/>
          <p:nvPr/>
        </p:nvSpPr>
        <p:spPr>
          <a:xfrm>
            <a:off x="489400" y="4111861"/>
            <a:ext cx="9715919" cy="359849"/>
          </a:xfrm>
          <a:prstGeom prst="round2SameRect">
            <a:avLst/>
          </a:prstGeom>
          <a:solidFill>
            <a:srgbClr val="F49737"/>
          </a:solidFill>
          <a:ln>
            <a:solidFill>
              <a:srgbClr val="F497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A43041A-C0DE-DD55-82EB-675A0383A0C7}"/>
              </a:ext>
            </a:extLst>
          </p:cNvPr>
          <p:cNvSpPr/>
          <p:nvPr/>
        </p:nvSpPr>
        <p:spPr>
          <a:xfrm>
            <a:off x="489402" y="1796965"/>
            <a:ext cx="9715919" cy="611743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2BE29B-F092-B7AE-0878-D9528D193B1D}"/>
              </a:ext>
            </a:extLst>
          </p:cNvPr>
          <p:cNvSpPr/>
          <p:nvPr/>
        </p:nvSpPr>
        <p:spPr>
          <a:xfrm>
            <a:off x="489402" y="4469568"/>
            <a:ext cx="9715919" cy="611743"/>
          </a:xfrm>
          <a:prstGeom prst="rect">
            <a:avLst/>
          </a:prstGeom>
          <a:solidFill>
            <a:srgbClr val="FDEBDB"/>
          </a:solidFill>
          <a:ln>
            <a:solidFill>
              <a:srgbClr val="FEF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799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Google Shape;2920;p34">
            <a:extLst>
              <a:ext uri="{FF2B5EF4-FFF2-40B4-BE49-F238E27FC236}">
                <a16:creationId xmlns:a16="http://schemas.microsoft.com/office/drawing/2014/main" id="{05EE6314-AAAA-C1F9-8068-72F12A057C5A}"/>
              </a:ext>
            </a:extLst>
          </p:cNvPr>
          <p:cNvSpPr txBox="1"/>
          <p:nvPr/>
        </p:nvSpPr>
        <p:spPr>
          <a:xfrm>
            <a:off x="678434" y="820633"/>
            <a:ext cx="5787180" cy="33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00B1A9"/>
              </a:buClr>
              <a:buSzPts val="2200"/>
            </a:pPr>
            <a:r>
              <a:rPr lang="ko-KR" altLang="en-US" sz="2199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49737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  <a:cs typeface="Arial"/>
                <a:sym typeface="Arial"/>
              </a:rPr>
              <a:t>평가 문항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08E3853-9E83-25EF-5F67-71B85F5B688B}"/>
              </a:ext>
            </a:extLst>
          </p:cNvPr>
          <p:cNvGrpSpPr/>
          <p:nvPr/>
        </p:nvGrpSpPr>
        <p:grpSpPr>
          <a:xfrm>
            <a:off x="646439" y="2564915"/>
            <a:ext cx="432047" cy="497909"/>
            <a:chOff x="895292" y="1878542"/>
            <a:chExt cx="432228" cy="498118"/>
          </a:xfrm>
        </p:grpSpPr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548CCB24-2028-E283-8896-B00E5134B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9" name="Rectangle 31">
              <a:extLst>
                <a:ext uri="{FF2B5EF4-FFF2-40B4-BE49-F238E27FC236}">
                  <a16:creationId xmlns:a16="http://schemas.microsoft.com/office/drawing/2014/main" id="{048E7CE4-834D-4DDA-B7A6-6C7CDD5FB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11" name="Rectangle 31">
            <a:extLst>
              <a:ext uri="{FF2B5EF4-FFF2-40B4-BE49-F238E27FC236}">
                <a16:creationId xmlns:a16="http://schemas.microsoft.com/office/drawing/2014/main" id="{2C9D0805-F1FE-0B75-876E-0F28B9980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95" y="4161036"/>
            <a:ext cx="1492396" cy="2614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079" algn="l"/>
              </a:tabLst>
            </a:pPr>
            <a:r>
              <a:rPr lang="ko-KR" altLang="en-US" sz="1699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학생 바이브코딩 지원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87217C6-AC50-4A34-00A3-CF07DAA69D8E}"/>
              </a:ext>
            </a:extLst>
          </p:cNvPr>
          <p:cNvGrpSpPr/>
          <p:nvPr/>
        </p:nvGrpSpPr>
        <p:grpSpPr>
          <a:xfrm>
            <a:off x="646439" y="5237519"/>
            <a:ext cx="432047" cy="497909"/>
            <a:chOff x="895292" y="1878542"/>
            <a:chExt cx="432228" cy="498118"/>
          </a:xfrm>
        </p:grpSpPr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C3DA512F-AE18-871D-6F8D-CA144DB30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292" y="1878542"/>
              <a:ext cx="432228" cy="432495"/>
            </a:xfrm>
            <a:custGeom>
              <a:avLst/>
              <a:gdLst>
                <a:gd name="T0" fmla="*/ 2193 w 4386"/>
                <a:gd name="T1" fmla="*/ 4386 h 4386"/>
                <a:gd name="T2" fmla="*/ 1340 w 4386"/>
                <a:gd name="T3" fmla="*/ 4214 h 4386"/>
                <a:gd name="T4" fmla="*/ 643 w 4386"/>
                <a:gd name="T5" fmla="*/ 3743 h 4386"/>
                <a:gd name="T6" fmla="*/ 172 w 4386"/>
                <a:gd name="T7" fmla="*/ 3046 h 4386"/>
                <a:gd name="T8" fmla="*/ 0 w 4386"/>
                <a:gd name="T9" fmla="*/ 2193 h 4386"/>
                <a:gd name="T10" fmla="*/ 172 w 4386"/>
                <a:gd name="T11" fmla="*/ 1340 h 4386"/>
                <a:gd name="T12" fmla="*/ 643 w 4386"/>
                <a:gd name="T13" fmla="*/ 643 h 4386"/>
                <a:gd name="T14" fmla="*/ 1340 w 4386"/>
                <a:gd name="T15" fmla="*/ 172 h 4386"/>
                <a:gd name="T16" fmla="*/ 2193 w 4386"/>
                <a:gd name="T17" fmla="*/ 0 h 4386"/>
                <a:gd name="T18" fmla="*/ 3046 w 4386"/>
                <a:gd name="T19" fmla="*/ 172 h 4386"/>
                <a:gd name="T20" fmla="*/ 3743 w 4386"/>
                <a:gd name="T21" fmla="*/ 643 h 4386"/>
                <a:gd name="T22" fmla="*/ 4214 w 4386"/>
                <a:gd name="T23" fmla="*/ 1340 h 4386"/>
                <a:gd name="T24" fmla="*/ 4386 w 4386"/>
                <a:gd name="T25" fmla="*/ 2193 h 4386"/>
                <a:gd name="T26" fmla="*/ 4214 w 4386"/>
                <a:gd name="T27" fmla="*/ 3046 h 4386"/>
                <a:gd name="T28" fmla="*/ 3743 w 4386"/>
                <a:gd name="T29" fmla="*/ 3743 h 4386"/>
                <a:gd name="T30" fmla="*/ 3046 w 4386"/>
                <a:gd name="T31" fmla="*/ 4214 h 4386"/>
                <a:gd name="T32" fmla="*/ 2193 w 4386"/>
                <a:gd name="T33" fmla="*/ 4386 h 4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86" h="4386">
                  <a:moveTo>
                    <a:pt x="2193" y="4386"/>
                  </a:moveTo>
                  <a:cubicBezTo>
                    <a:pt x="1897" y="4386"/>
                    <a:pt x="1609" y="4328"/>
                    <a:pt x="1340" y="4214"/>
                  </a:cubicBezTo>
                  <a:cubicBezTo>
                    <a:pt x="1079" y="4103"/>
                    <a:pt x="844" y="3945"/>
                    <a:pt x="643" y="3743"/>
                  </a:cubicBezTo>
                  <a:cubicBezTo>
                    <a:pt x="441" y="3542"/>
                    <a:pt x="283" y="3307"/>
                    <a:pt x="172" y="3046"/>
                  </a:cubicBezTo>
                  <a:cubicBezTo>
                    <a:pt x="58" y="2777"/>
                    <a:pt x="0" y="2490"/>
                    <a:pt x="0" y="2193"/>
                  </a:cubicBezTo>
                  <a:cubicBezTo>
                    <a:pt x="0" y="1897"/>
                    <a:pt x="58" y="1609"/>
                    <a:pt x="172" y="1340"/>
                  </a:cubicBezTo>
                  <a:cubicBezTo>
                    <a:pt x="283" y="1079"/>
                    <a:pt x="441" y="844"/>
                    <a:pt x="643" y="643"/>
                  </a:cubicBezTo>
                  <a:cubicBezTo>
                    <a:pt x="844" y="441"/>
                    <a:pt x="1079" y="283"/>
                    <a:pt x="1340" y="172"/>
                  </a:cubicBezTo>
                  <a:cubicBezTo>
                    <a:pt x="1609" y="58"/>
                    <a:pt x="1897" y="0"/>
                    <a:pt x="2193" y="0"/>
                  </a:cubicBezTo>
                  <a:cubicBezTo>
                    <a:pt x="2489" y="0"/>
                    <a:pt x="2777" y="58"/>
                    <a:pt x="3046" y="172"/>
                  </a:cubicBezTo>
                  <a:cubicBezTo>
                    <a:pt x="3307" y="283"/>
                    <a:pt x="3542" y="441"/>
                    <a:pt x="3743" y="643"/>
                  </a:cubicBezTo>
                  <a:cubicBezTo>
                    <a:pt x="3945" y="844"/>
                    <a:pt x="4103" y="1079"/>
                    <a:pt x="4214" y="1340"/>
                  </a:cubicBezTo>
                  <a:cubicBezTo>
                    <a:pt x="4328" y="1609"/>
                    <a:pt x="4386" y="1897"/>
                    <a:pt x="4386" y="2193"/>
                  </a:cubicBezTo>
                  <a:cubicBezTo>
                    <a:pt x="4386" y="2489"/>
                    <a:pt x="4328" y="2777"/>
                    <a:pt x="4214" y="3046"/>
                  </a:cubicBezTo>
                  <a:cubicBezTo>
                    <a:pt x="4103" y="3307"/>
                    <a:pt x="3945" y="3542"/>
                    <a:pt x="3743" y="3743"/>
                  </a:cubicBezTo>
                  <a:cubicBezTo>
                    <a:pt x="3542" y="3945"/>
                    <a:pt x="3307" y="4103"/>
                    <a:pt x="3046" y="4214"/>
                  </a:cubicBezTo>
                  <a:cubicBezTo>
                    <a:pt x="2777" y="4328"/>
                    <a:pt x="2489" y="4386"/>
                    <a:pt x="2193" y="4386"/>
                  </a:cubicBezTo>
                  <a:close/>
                </a:path>
              </a:pathLst>
            </a:custGeom>
            <a:solidFill>
              <a:srgbClr val="FDE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0"/>
              <a:endPara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2C10D414-7B69-BF84-BDBA-B23D49617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846" y="1902684"/>
              <a:ext cx="254878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</a:t>
              </a:r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A16146F-14E1-819E-FB33-0AC46771DA9D}"/>
              </a:ext>
            </a:extLst>
          </p:cNvPr>
          <p:cNvSpPr/>
          <p:nvPr/>
        </p:nvSpPr>
        <p:spPr>
          <a:xfrm>
            <a:off x="489402" y="1439258"/>
            <a:ext cx="9716182" cy="5361910"/>
          </a:xfrm>
          <a:prstGeom prst="roundRect">
            <a:avLst>
              <a:gd name="adj" fmla="val 1054"/>
            </a:avLst>
          </a:prstGeom>
          <a:noFill/>
          <a:ln>
            <a:solidFill>
              <a:srgbClr val="F4973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99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03F62B4-7742-BF70-DA5C-E982065FEECE}"/>
              </a:ext>
            </a:extLst>
          </p:cNvPr>
          <p:cNvGrpSpPr/>
          <p:nvPr/>
        </p:nvGrpSpPr>
        <p:grpSpPr>
          <a:xfrm>
            <a:off x="644847" y="1863401"/>
            <a:ext cx="8296174" cy="497909"/>
            <a:chOff x="641285" y="1864183"/>
            <a:chExt cx="8299659" cy="498118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9173064-7516-B024-1A29-BBAE0D396281}"/>
                </a:ext>
              </a:extLst>
            </p:cNvPr>
            <p:cNvGrpSpPr/>
            <p:nvPr/>
          </p:nvGrpSpPr>
          <p:grpSpPr>
            <a:xfrm>
              <a:off x="641285" y="1864183"/>
              <a:ext cx="8299659" cy="432495"/>
              <a:chOff x="893699" y="1765845"/>
              <a:chExt cx="8299659" cy="432495"/>
            </a:xfrm>
          </p:grpSpPr>
          <p:sp>
            <p:nvSpPr>
              <p:cNvPr id="19" name="Rectangle 31">
                <a:extLst>
                  <a:ext uri="{FF2B5EF4-FFF2-40B4-BE49-F238E27FC236}">
                    <a16:creationId xmlns:a16="http://schemas.microsoft.com/office/drawing/2014/main" id="{11043526-BEDC-1AE8-3114-04555B813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699" y="1888224"/>
                <a:ext cx="8299659" cy="304699"/>
              </a:xfrm>
              <a:prstGeom prst="rect">
                <a:avLst/>
              </a:prstGeom>
              <a:solidFill>
                <a:srgbClr val="FDEBDB"/>
              </a:solidFill>
              <a:ln>
                <a:solidFill>
                  <a:srgbClr val="FEF4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r>
                  <a:rPr lang="ko-KR" altLang="en-US" dirty="0">
                    <a:solidFill>
                      <a:schemeClr val="tx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튜터용 앱을 만들 때 프롬프트에 넣으면 안 되는 것은?</a:t>
                </a:r>
              </a:p>
            </p:txBody>
          </p: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82942AE5-E331-D219-E744-5ED0F63BCB70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EC260256-FF2F-820D-D371-A61F63914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08D59859-85C3-6F2E-91CE-CC0C41CD7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2" tIns="45701" rIns="91402" bIns="45701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175B35CB-8DC3-EE48-E205-EBEE34CC9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1888325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AE7DB20-F4DF-71F4-FD41-CEE778EF005F}"/>
              </a:ext>
            </a:extLst>
          </p:cNvPr>
          <p:cNvGrpSpPr/>
          <p:nvPr/>
        </p:nvGrpSpPr>
        <p:grpSpPr>
          <a:xfrm>
            <a:off x="646439" y="4521526"/>
            <a:ext cx="8854421" cy="609140"/>
            <a:chOff x="642878" y="4523424"/>
            <a:chExt cx="8858140" cy="609396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4B4525D-F3EC-C54E-E6E1-90E90258EA30}"/>
                </a:ext>
              </a:extLst>
            </p:cNvPr>
            <p:cNvGrpSpPr/>
            <p:nvPr/>
          </p:nvGrpSpPr>
          <p:grpSpPr>
            <a:xfrm>
              <a:off x="642878" y="4523424"/>
              <a:ext cx="8858140" cy="609396"/>
              <a:chOff x="895292" y="1751360"/>
              <a:chExt cx="8858140" cy="609396"/>
            </a:xfrm>
          </p:grpSpPr>
          <p:sp>
            <p:nvSpPr>
              <p:cNvPr id="26" name="Rectangle 31">
                <a:extLst>
                  <a:ext uri="{FF2B5EF4-FFF2-40B4-BE49-F238E27FC236}">
                    <a16:creationId xmlns:a16="http://schemas.microsoft.com/office/drawing/2014/main" id="{338D18B7-0BC5-C109-ADAF-7E245DBCB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3" y="1751360"/>
                <a:ext cx="8299659" cy="6093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lvl="1">
                  <a:lnSpc>
                    <a:spcPct val="110000"/>
                  </a:lnSpc>
                  <a:spcBef>
                    <a:spcPts val="200"/>
                  </a:spcBef>
                  <a:buClr>
                    <a:srgbClr val="7A8C96"/>
                  </a:buClr>
                  <a:tabLst>
                    <a:tab pos="406079" algn="l"/>
                  </a:tabLst>
                </a:pPr>
                <a:r>
                  <a:rPr lang="ko-KR" altLang="en-US" dirty="0"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학생이 “AI가 다 해 주는 거 아니에요?”라고 할 때 튜터의 가장 알맞은 대응은?</a:t>
                </a:r>
              </a:p>
            </p:txBody>
          </p: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37F70067-8A7B-C030-3A0C-BDCB1ACBB04C}"/>
                  </a:ext>
                </a:extLst>
              </p:cNvPr>
              <p:cNvGrpSpPr/>
              <p:nvPr/>
            </p:nvGrpSpPr>
            <p:grpSpPr>
              <a:xfrm>
                <a:off x="895292" y="1765845"/>
                <a:ext cx="432228" cy="432495"/>
                <a:chOff x="895292" y="1878542"/>
                <a:chExt cx="432228" cy="432495"/>
              </a:xfrm>
            </p:grpSpPr>
            <p:sp>
              <p:nvSpPr>
                <p:cNvPr id="28" name="Freeform 21">
                  <a:extLst>
                    <a:ext uri="{FF2B5EF4-FFF2-40B4-BE49-F238E27FC236}">
                      <a16:creationId xmlns:a16="http://schemas.microsoft.com/office/drawing/2014/main" id="{4531F22D-F413-C415-95EF-8325D4CA19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5292" y="1878542"/>
                  <a:ext cx="432228" cy="432495"/>
                </a:xfrm>
                <a:custGeom>
                  <a:avLst/>
                  <a:gdLst>
                    <a:gd name="T0" fmla="*/ 2193 w 4386"/>
                    <a:gd name="T1" fmla="*/ 4386 h 4386"/>
                    <a:gd name="T2" fmla="*/ 1340 w 4386"/>
                    <a:gd name="T3" fmla="*/ 4214 h 4386"/>
                    <a:gd name="T4" fmla="*/ 643 w 4386"/>
                    <a:gd name="T5" fmla="*/ 3743 h 4386"/>
                    <a:gd name="T6" fmla="*/ 172 w 4386"/>
                    <a:gd name="T7" fmla="*/ 3046 h 4386"/>
                    <a:gd name="T8" fmla="*/ 0 w 4386"/>
                    <a:gd name="T9" fmla="*/ 2193 h 4386"/>
                    <a:gd name="T10" fmla="*/ 172 w 4386"/>
                    <a:gd name="T11" fmla="*/ 1340 h 4386"/>
                    <a:gd name="T12" fmla="*/ 643 w 4386"/>
                    <a:gd name="T13" fmla="*/ 643 h 4386"/>
                    <a:gd name="T14" fmla="*/ 1340 w 4386"/>
                    <a:gd name="T15" fmla="*/ 172 h 4386"/>
                    <a:gd name="T16" fmla="*/ 2193 w 4386"/>
                    <a:gd name="T17" fmla="*/ 0 h 4386"/>
                    <a:gd name="T18" fmla="*/ 3046 w 4386"/>
                    <a:gd name="T19" fmla="*/ 172 h 4386"/>
                    <a:gd name="T20" fmla="*/ 3743 w 4386"/>
                    <a:gd name="T21" fmla="*/ 643 h 4386"/>
                    <a:gd name="T22" fmla="*/ 4214 w 4386"/>
                    <a:gd name="T23" fmla="*/ 1340 h 4386"/>
                    <a:gd name="T24" fmla="*/ 4386 w 4386"/>
                    <a:gd name="T25" fmla="*/ 2193 h 4386"/>
                    <a:gd name="T26" fmla="*/ 4214 w 4386"/>
                    <a:gd name="T27" fmla="*/ 3046 h 4386"/>
                    <a:gd name="T28" fmla="*/ 3743 w 4386"/>
                    <a:gd name="T29" fmla="*/ 3743 h 4386"/>
                    <a:gd name="T30" fmla="*/ 3046 w 4386"/>
                    <a:gd name="T31" fmla="*/ 4214 h 4386"/>
                    <a:gd name="T32" fmla="*/ 2193 w 4386"/>
                    <a:gd name="T33" fmla="*/ 4386 h 43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86" h="4386">
                      <a:moveTo>
                        <a:pt x="2193" y="4386"/>
                      </a:moveTo>
                      <a:cubicBezTo>
                        <a:pt x="1897" y="4386"/>
                        <a:pt x="1609" y="4328"/>
                        <a:pt x="1340" y="4214"/>
                      </a:cubicBezTo>
                      <a:cubicBezTo>
                        <a:pt x="1079" y="4103"/>
                        <a:pt x="844" y="3945"/>
                        <a:pt x="643" y="3743"/>
                      </a:cubicBezTo>
                      <a:cubicBezTo>
                        <a:pt x="441" y="3542"/>
                        <a:pt x="283" y="3307"/>
                        <a:pt x="172" y="3046"/>
                      </a:cubicBezTo>
                      <a:cubicBezTo>
                        <a:pt x="58" y="2777"/>
                        <a:pt x="0" y="2490"/>
                        <a:pt x="0" y="2193"/>
                      </a:cubicBezTo>
                      <a:cubicBezTo>
                        <a:pt x="0" y="1897"/>
                        <a:pt x="58" y="1609"/>
                        <a:pt x="172" y="1340"/>
                      </a:cubicBezTo>
                      <a:cubicBezTo>
                        <a:pt x="283" y="1079"/>
                        <a:pt x="441" y="844"/>
                        <a:pt x="643" y="643"/>
                      </a:cubicBezTo>
                      <a:cubicBezTo>
                        <a:pt x="844" y="441"/>
                        <a:pt x="1079" y="283"/>
                        <a:pt x="1340" y="172"/>
                      </a:cubicBezTo>
                      <a:cubicBezTo>
                        <a:pt x="1609" y="58"/>
                        <a:pt x="1897" y="0"/>
                        <a:pt x="2193" y="0"/>
                      </a:cubicBezTo>
                      <a:cubicBezTo>
                        <a:pt x="2489" y="0"/>
                        <a:pt x="2777" y="58"/>
                        <a:pt x="3046" y="172"/>
                      </a:cubicBezTo>
                      <a:cubicBezTo>
                        <a:pt x="3307" y="283"/>
                        <a:pt x="3542" y="441"/>
                        <a:pt x="3743" y="643"/>
                      </a:cubicBezTo>
                      <a:cubicBezTo>
                        <a:pt x="3945" y="844"/>
                        <a:pt x="4103" y="1079"/>
                        <a:pt x="4214" y="1340"/>
                      </a:cubicBezTo>
                      <a:cubicBezTo>
                        <a:pt x="4328" y="1609"/>
                        <a:pt x="4386" y="1897"/>
                        <a:pt x="4386" y="2193"/>
                      </a:cubicBezTo>
                      <a:cubicBezTo>
                        <a:pt x="4386" y="2489"/>
                        <a:pt x="4328" y="2777"/>
                        <a:pt x="4214" y="3046"/>
                      </a:cubicBezTo>
                      <a:cubicBezTo>
                        <a:pt x="4103" y="3307"/>
                        <a:pt x="3945" y="3542"/>
                        <a:pt x="3743" y="3743"/>
                      </a:cubicBezTo>
                      <a:cubicBezTo>
                        <a:pt x="3542" y="3945"/>
                        <a:pt x="3307" y="4103"/>
                        <a:pt x="3046" y="4214"/>
                      </a:cubicBezTo>
                      <a:cubicBezTo>
                        <a:pt x="2777" y="4328"/>
                        <a:pt x="2489" y="4386"/>
                        <a:pt x="2193" y="4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9" name="Freeform 22">
                  <a:extLst>
                    <a:ext uri="{FF2B5EF4-FFF2-40B4-BE49-F238E27FC236}">
                      <a16:creationId xmlns:a16="http://schemas.microsoft.com/office/drawing/2014/main" id="{4C6C47C4-F697-431C-BE4A-D67880E762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381" y="1921631"/>
                  <a:ext cx="346050" cy="346317"/>
                </a:xfrm>
                <a:custGeom>
                  <a:avLst/>
                  <a:gdLst>
                    <a:gd name="T0" fmla="*/ 1757 w 3514"/>
                    <a:gd name="T1" fmla="*/ 3514 h 3514"/>
                    <a:gd name="T2" fmla="*/ 1074 w 3514"/>
                    <a:gd name="T3" fmla="*/ 3376 h 3514"/>
                    <a:gd name="T4" fmla="*/ 515 w 3514"/>
                    <a:gd name="T5" fmla="*/ 2999 h 3514"/>
                    <a:gd name="T6" fmla="*/ 138 w 3514"/>
                    <a:gd name="T7" fmla="*/ 2440 h 3514"/>
                    <a:gd name="T8" fmla="*/ 0 w 3514"/>
                    <a:gd name="T9" fmla="*/ 1757 h 3514"/>
                    <a:gd name="T10" fmla="*/ 138 w 3514"/>
                    <a:gd name="T11" fmla="*/ 1074 h 3514"/>
                    <a:gd name="T12" fmla="*/ 515 w 3514"/>
                    <a:gd name="T13" fmla="*/ 515 h 3514"/>
                    <a:gd name="T14" fmla="*/ 1074 w 3514"/>
                    <a:gd name="T15" fmla="*/ 138 h 3514"/>
                    <a:gd name="T16" fmla="*/ 1757 w 3514"/>
                    <a:gd name="T17" fmla="*/ 0 h 3514"/>
                    <a:gd name="T18" fmla="*/ 2440 w 3514"/>
                    <a:gd name="T19" fmla="*/ 138 h 3514"/>
                    <a:gd name="T20" fmla="*/ 2999 w 3514"/>
                    <a:gd name="T21" fmla="*/ 515 h 3514"/>
                    <a:gd name="T22" fmla="*/ 3376 w 3514"/>
                    <a:gd name="T23" fmla="*/ 1074 h 3514"/>
                    <a:gd name="T24" fmla="*/ 3514 w 3514"/>
                    <a:gd name="T25" fmla="*/ 1757 h 3514"/>
                    <a:gd name="T26" fmla="*/ 3376 w 3514"/>
                    <a:gd name="T27" fmla="*/ 2440 h 3514"/>
                    <a:gd name="T28" fmla="*/ 2999 w 3514"/>
                    <a:gd name="T29" fmla="*/ 2999 h 3514"/>
                    <a:gd name="T30" fmla="*/ 2440 w 3514"/>
                    <a:gd name="T31" fmla="*/ 3376 h 3514"/>
                    <a:gd name="T32" fmla="*/ 1757 w 3514"/>
                    <a:gd name="T33" fmla="*/ 3514 h 35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514" h="3514">
                      <a:moveTo>
                        <a:pt x="1757" y="3514"/>
                      </a:moveTo>
                      <a:cubicBezTo>
                        <a:pt x="1519" y="3514"/>
                        <a:pt x="1289" y="3467"/>
                        <a:pt x="1074" y="3376"/>
                      </a:cubicBezTo>
                      <a:cubicBezTo>
                        <a:pt x="865" y="3288"/>
                        <a:pt x="677" y="3161"/>
                        <a:pt x="515" y="2999"/>
                      </a:cubicBezTo>
                      <a:cubicBezTo>
                        <a:pt x="353" y="2837"/>
                        <a:pt x="226" y="2649"/>
                        <a:pt x="138" y="2440"/>
                      </a:cubicBezTo>
                      <a:cubicBezTo>
                        <a:pt x="47" y="2225"/>
                        <a:pt x="0" y="1995"/>
                        <a:pt x="0" y="1757"/>
                      </a:cubicBezTo>
                      <a:cubicBezTo>
                        <a:pt x="0" y="1519"/>
                        <a:pt x="47" y="1289"/>
                        <a:pt x="138" y="1074"/>
                      </a:cubicBezTo>
                      <a:cubicBezTo>
                        <a:pt x="226" y="865"/>
                        <a:pt x="353" y="677"/>
                        <a:pt x="515" y="515"/>
                      </a:cubicBezTo>
                      <a:cubicBezTo>
                        <a:pt x="677" y="353"/>
                        <a:pt x="865" y="226"/>
                        <a:pt x="1074" y="138"/>
                      </a:cubicBezTo>
                      <a:cubicBezTo>
                        <a:pt x="1289" y="47"/>
                        <a:pt x="1519" y="0"/>
                        <a:pt x="1757" y="0"/>
                      </a:cubicBezTo>
                      <a:cubicBezTo>
                        <a:pt x="1995" y="0"/>
                        <a:pt x="2225" y="47"/>
                        <a:pt x="2440" y="138"/>
                      </a:cubicBezTo>
                      <a:cubicBezTo>
                        <a:pt x="2649" y="226"/>
                        <a:pt x="2837" y="353"/>
                        <a:pt x="2999" y="515"/>
                      </a:cubicBezTo>
                      <a:cubicBezTo>
                        <a:pt x="3161" y="677"/>
                        <a:pt x="3288" y="865"/>
                        <a:pt x="3376" y="1074"/>
                      </a:cubicBezTo>
                      <a:cubicBezTo>
                        <a:pt x="3467" y="1289"/>
                        <a:pt x="3514" y="1519"/>
                        <a:pt x="3514" y="1757"/>
                      </a:cubicBezTo>
                      <a:cubicBezTo>
                        <a:pt x="3514" y="1995"/>
                        <a:pt x="3467" y="2225"/>
                        <a:pt x="3376" y="2440"/>
                      </a:cubicBezTo>
                      <a:cubicBezTo>
                        <a:pt x="3288" y="2649"/>
                        <a:pt x="3161" y="2837"/>
                        <a:pt x="2999" y="2999"/>
                      </a:cubicBezTo>
                      <a:cubicBezTo>
                        <a:pt x="2837" y="3161"/>
                        <a:pt x="2649" y="3288"/>
                        <a:pt x="2440" y="3376"/>
                      </a:cubicBezTo>
                      <a:cubicBezTo>
                        <a:pt x="2225" y="3467"/>
                        <a:pt x="1995" y="3514"/>
                        <a:pt x="1757" y="3514"/>
                      </a:cubicBezTo>
                      <a:close/>
                    </a:path>
                  </a:pathLst>
                </a:custGeom>
                <a:solidFill>
                  <a:srgbClr val="FDEB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2" tIns="45701" rIns="91402" bIns="45701" numCol="1" anchor="t" anchorCtr="0" compatLnSpc="1">
                  <a:prstTxWarp prst="textNoShape">
                    <a:avLst/>
                  </a:prstTxWarp>
                </a:bodyPr>
                <a:lstStyle/>
                <a:p>
                  <a:pPr latinLnBrk="0"/>
                  <a:endParaRPr lang="ko-KR" altLang="en-US" sz="1200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25" name="Rectangle 31">
              <a:extLst>
                <a:ext uri="{FF2B5EF4-FFF2-40B4-BE49-F238E27FC236}">
                  <a16:creationId xmlns:a16="http://schemas.microsoft.com/office/drawing/2014/main" id="{E5E20B52-2E32-FD88-68F1-37780BDD1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28" y="4562051"/>
              <a:ext cx="259686" cy="4739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lvl="1" algn="just">
                <a:lnSpc>
                  <a:spcPct val="110000"/>
                </a:lnSpc>
                <a:spcBef>
                  <a:spcPts val="200"/>
                </a:spcBef>
                <a:buClr>
                  <a:srgbClr val="7A8C96"/>
                </a:buClr>
                <a:tabLst>
                  <a:tab pos="406079" algn="l"/>
                </a:tabLst>
              </a:pPr>
              <a:r>
                <a:rPr lang="en-US" altLang="ko-KR" sz="2799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rgbClr val="F49737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Q</a:t>
              </a:r>
            </a:p>
          </p:txBody>
        </p:sp>
      </p:grpSp>
      <p:sp>
        <p:nvSpPr>
          <p:cNvPr id="34" name="Rectangle 31">
            <a:extLst>
              <a:ext uri="{FF2B5EF4-FFF2-40B4-BE49-F238E27FC236}">
                <a16:creationId xmlns:a16="http://schemas.microsoft.com/office/drawing/2014/main" id="{EECD05D1-ECB8-E169-FBE2-D8F03EBF4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83" y="1488432"/>
            <a:ext cx="1998945" cy="26148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lvl="1">
              <a:spcBef>
                <a:spcPts val="200"/>
              </a:spcBef>
              <a:buClr>
                <a:srgbClr val="7A8C96"/>
              </a:buClr>
              <a:tabLst>
                <a:tab pos="406079" algn="l"/>
              </a:tabLst>
            </a:pPr>
            <a:r>
              <a:rPr lang="ko-KR" altLang="en-US" sz="1699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안전한 바이브코딩</a:t>
            </a:r>
          </a:p>
        </p:txBody>
      </p:sp>
      <p:sp>
        <p:nvSpPr>
          <p:cNvPr id="2" name="Google Shape;2922;p34">
            <a:extLst>
              <a:ext uri="{FF2B5EF4-FFF2-40B4-BE49-F238E27FC236}">
                <a16:creationId xmlns:a16="http://schemas.microsoft.com/office/drawing/2014/main" id="{A8244A1E-D3A1-95A8-36B9-0FED439B3971}"/>
              </a:ext>
            </a:extLst>
          </p:cNvPr>
          <p:cNvSpPr txBox="1"/>
          <p:nvPr/>
        </p:nvSpPr>
        <p:spPr>
          <a:xfrm>
            <a:off x="1250500" y="2617593"/>
            <a:ext cx="8600611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F3F3F"/>
              </a:buClr>
              <a:buSzPct val="90000"/>
            </a:pPr>
            <a:r>
              <a:rPr lang="ko-KR" altLang="en-US" sz="1799" dirty="0"/>
              <a:t>① 앱을 쓸 학년과 화면 크기</a:t>
            </a:r>
            <a:br>
              <a:rPr lang="ko-KR" altLang="en-US" sz="1799" dirty="0"/>
            </a:br>
            <a:r>
              <a:rPr lang="ko-KR" altLang="en-US" sz="1799" dirty="0"/>
              <a:t>② 버튼과 화면 구성 순서</a:t>
            </a:r>
            <a:br>
              <a:rPr lang="ko-KR" altLang="en-US" sz="1799" dirty="0"/>
            </a:br>
            <a:r>
              <a:rPr lang="ko-KR" altLang="en-US" sz="1799" dirty="0" b="1"/>
              <a:t>③ 우리 반 학생 이름과 사진</a:t>
            </a:r>
            <a:br>
              <a:rPr lang="ko-KR" altLang="en-US" sz="1799" dirty="0"/>
            </a:br>
            <a:r>
              <a:rPr lang="ko-KR" altLang="en-US" sz="1799" dirty="0"/>
              <a:t>④ 로그인 없이 HTML 파일 하나로</a:t>
            </a:r>
          </a:p>
        </p:txBody>
      </p:sp>
      <p:sp>
        <p:nvSpPr>
          <p:cNvPr id="3" name="Google Shape;2922;p34">
            <a:extLst>
              <a:ext uri="{FF2B5EF4-FFF2-40B4-BE49-F238E27FC236}">
                <a16:creationId xmlns:a16="http://schemas.microsoft.com/office/drawing/2014/main" id="{ABD36054-8DD6-D517-0EB5-B657D1FA49AD}"/>
              </a:ext>
            </a:extLst>
          </p:cNvPr>
          <p:cNvSpPr txBox="1"/>
          <p:nvPr/>
        </p:nvSpPr>
        <p:spPr>
          <a:xfrm>
            <a:off x="1204685" y="5262983"/>
            <a:ext cx="8919970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rgbClr val="3F3F3F"/>
              </a:buClr>
              <a:buSzPct val="90000"/>
            </a:pPr>
            <a:r>
              <a:rPr lang="ko-KR" altLang="en-US" sz="1799" dirty="0"/>
              <a:t>① AI가 만든 코드는 정확하니 바로 제출하게 한다.</a:t>
            </a:r>
            <a:br>
              <a:rPr lang="ko-KR" altLang="en-US" sz="1799" dirty="0"/>
            </a:br>
            <a:r>
              <a:rPr lang="ko-KR" altLang="en-US" sz="1799" dirty="0" b="1"/>
              <a:t>② 직접 실행해 원하는 대로 되는지 확인하고 고쳐 보게 한다.</a:t>
            </a:r>
            <a:br>
              <a:rPr lang="ko-KR" altLang="en-US" sz="1799" dirty="0"/>
            </a:br>
            <a:r>
              <a:rPr lang="ko-KR" altLang="en-US" sz="1799" dirty="0"/>
              <a:t>③ 튜터가 대신 코드를 고쳐 준다.</a:t>
            </a:r>
            <a:br>
              <a:rPr lang="ko-KR" altLang="en-US" sz="1799" dirty="0"/>
            </a:br>
            <a:r>
              <a:rPr lang="ko-KR" altLang="en-US" sz="1799" dirty="0"/>
              <a:t>④ 오류가 나면 다른 주제로 바꾸게 한다.</a:t>
            </a:r>
          </a:p>
        </p:txBody>
      </p:sp>
    </p:spTree>
    <p:extLst>
      <p:ext uri="{BB962C8B-B14F-4D97-AF65-F5344CB8AC3E}">
        <p14:creationId xmlns:p14="http://schemas.microsoft.com/office/powerpoint/2010/main" val="456381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3484</TotalTime>
  <Words>2037</Words>
  <Application>Microsoft Office PowerPoint</Application>
  <PresentationFormat>사용자 지정</PresentationFormat>
  <Paragraphs>276</Paragraphs>
  <Slides>21</Slides>
  <Notes>21</Notes>
  <HiddenSlides>0</HiddenSlides>
  <MMClips>1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4" baseType="lpstr">
      <vt:lpstr>KoPubWorld돋움체 Bold</vt:lpstr>
      <vt:lpstr>Courier New</vt:lpstr>
      <vt:lpstr>Wingdings 2</vt:lpstr>
      <vt:lpstr>맑은 고딕</vt:lpstr>
      <vt:lpstr>나눔스퀘어_ac</vt:lpstr>
      <vt:lpstr>KoPub돋움체 Bold</vt:lpstr>
      <vt:lpstr>KoPub돋움체 Medium</vt:lpstr>
      <vt:lpstr>세방고딕 Regular</vt:lpstr>
      <vt:lpstr>Roboto</vt:lpstr>
      <vt:lpstr>Arial</vt:lpstr>
      <vt:lpstr>세방고딕 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(PPT) 지역특화과정 연계 실습 — 말로 만드는 튜터 도구: 바이브코딩 입문</dc:title>
  <dc:creator>명진초등학교 최일훈</dc:creator>
  <cp:lastModifiedBy>이성철</cp:lastModifiedBy>
  <cp:revision>1402</cp:revision>
  <dcterms:created xsi:type="dcterms:W3CDTF">2025-06-17T11:16:02Z</dcterms:created>
  <dcterms:modified xsi:type="dcterms:W3CDTF">2026-07-28T01:53:00Z</dcterms:modified>
</cp:coreProperties>
</file>